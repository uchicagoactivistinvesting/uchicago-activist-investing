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6833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Agenda: what activist investing is, what we do, events, advisors, placements, and how to apply before Friday.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Activists are long-term owners who see a gap between price and value, and do the work to close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programs: speakers, education, pitches, and recruiting prep.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firms that define the field. Peter May of Trian is an emeritus trustee of the University of Chicago.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opened Monday. Deadline is this Friday at 11:59 PM Central. Review is rolling.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written application, then two conversations with the leadership team. No finance background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speaker this quarter.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advisors bring boardroom and activist experience.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our members have interned and worked.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the code to apply. Deadline Friday at 11:59 PM Central.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live/banner.jpg"/>
          <p:cNvPicPr>
            <a:picLocks noChangeAspect="1"/>
          </p:cNvPicPr>
          <p:nvPr/>
        </p:nvPicPr>
        <p:blipFill>
          <a:blip r:embed="rId2"/>
          <a:srcRect/>
          <a:stretch/>
        </p:blipFill>
        <p:spPr>
          <a:xfrm>
            <a:off x="0" y="0"/>
            <a:ext cx="12191695" cy="1371600"/>
          </a:xfrm>
          <a:prstGeom prst="rect">
            <a:avLst/>
          </a:prstGeom>
        </p:spPr>
      </p:pic>
      <p:pic>
        <p:nvPicPr>
          <p:cNvPr id="3" name="Image 1" descr="live/logo-lockup.png"/>
          <p:cNvPicPr>
            <a:picLocks noChangeAspect="1"/>
          </p:cNvPicPr>
          <p:nvPr/>
        </p:nvPicPr>
        <p:blipFill>
          <a:blip r:embed="rId3"/>
          <a:stretch>
            <a:fillRect/>
          </a:stretch>
        </p:blipFill>
        <p:spPr>
          <a:xfrm>
            <a:off x="731520" y="6327648"/>
            <a:ext cx="1527048" cy="256032"/>
          </a:xfrm>
          <a:prstGeom prst="rect">
            <a:avLst/>
          </a:prstGeom>
        </p:spPr>
      </p:pic>
      <p:sp>
        <p:nvSpPr>
          <p:cNvPr id="25"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hyperlink" Target="https://docs.google.com/forms/d/e/1FAIpQLSev_kdu99IdNhuWfsj9YHRSD6RbRd85GG-PMHIn_3nRRFk0jw/viewform"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live/logo-lockup-white.png"/>
          <p:cNvPicPr>
            <a:picLocks noChangeAspect="1"/>
          </p:cNvPicPr>
          <p:nvPr/>
        </p:nvPicPr>
        <p:blipFill>
          <a:blip r:embed="rId4"/>
          <a:stretch>
            <a:fillRect/>
          </a:stretch>
        </p:blipFill>
        <p:spPr>
          <a:xfrm>
            <a:off x="731520" y="548640"/>
            <a:ext cx="3547872" cy="594360"/>
          </a:xfrm>
          <a:prstGeom prst="rect">
            <a:avLst/>
          </a:prstGeom>
        </p:spPr>
      </p:pic>
      <p:sp>
        <p:nvSpPr>
          <p:cNvPr id="3" name="Text 0"/>
          <p:cNvSpPr txBox="1"/>
          <p:nvPr/>
        </p:nvSpPr>
        <p:spPr>
          <a:xfrm>
            <a:off x="731520" y="2514600"/>
            <a:ext cx="8229600" cy="1005840"/>
          </a:xfrm>
          <a:prstGeom prst="rect">
            <a:avLst/>
          </a:prstGeom>
          <a:noFill/>
          <a:ln/>
        </p:spPr>
        <p:txBody>
          <a:bodyPr wrap="square" lIns="0" tIns="0" rIns="0" bIns="0" rtlCol="0" anchor="ctr"/>
          <a:lstStyle/>
          <a:p>
            <a:pPr marL="0" indent="0">
              <a:buNone/>
            </a:pPr>
            <a:r>
              <a:rPr lang="en-US" sz="6600" dirty="0">
                <a:solidFill>
                  <a:srgbClr val="FFFFFF"/>
                </a:solidFill>
                <a:latin typeface="EB Garamond" pitchFamily="34" charset="0"/>
                <a:ea typeface="EB Garamond" pitchFamily="34" charset="-122"/>
                <a:cs typeface="EB Garamond" pitchFamily="34" charset="-120"/>
              </a:rPr>
              <a:t>UAIC Info Session</a:t>
            </a:r>
            <a:endParaRPr lang="en-US" sz="6600" dirty="0"/>
          </a:p>
        </p:txBody>
      </p:sp>
      <p:sp>
        <p:nvSpPr>
          <p:cNvPr id="4" name="Text 1"/>
          <p:cNvSpPr txBox="1"/>
          <p:nvPr/>
        </p:nvSpPr>
        <p:spPr>
          <a:xfrm>
            <a:off x="731520" y="3566160"/>
            <a:ext cx="9144000" cy="457200"/>
          </a:xfrm>
          <a:prstGeom prst="rect">
            <a:avLst/>
          </a:prstGeom>
          <a:noFill/>
          <a:ln/>
        </p:spPr>
        <p:txBody>
          <a:bodyPr wrap="square" lIns="0" tIns="0" rIns="0" bIns="0" rtlCol="0" anchor="ctr"/>
          <a:lstStyle/>
          <a:p>
            <a:pPr marL="0" indent="0">
              <a:buNone/>
            </a:pPr>
            <a:r>
              <a:rPr lang="en-US" sz="2400" dirty="0">
                <a:solidFill>
                  <a:srgbClr val="FFFFFF"/>
                </a:solidFill>
                <a:latin typeface="EB Garamond" pitchFamily="34" charset="0"/>
                <a:ea typeface="EB Garamond" pitchFamily="34" charset="-122"/>
                <a:cs typeface="EB Garamond" pitchFamily="34" charset="-120"/>
              </a:rPr>
              <a:t>The world’s first undergraduate activist investing club</a:t>
            </a:r>
            <a:endParaRPr lang="en-US" sz="2400" dirty="0"/>
          </a:p>
        </p:txBody>
      </p:sp>
      <p:sp>
        <p:nvSpPr>
          <p:cNvPr id="5" name="Text 2"/>
          <p:cNvSpPr txBox="1"/>
          <p:nvPr/>
        </p:nvSpPr>
        <p:spPr>
          <a:xfrm>
            <a:off x="731520" y="4160520"/>
            <a:ext cx="9144000" cy="365760"/>
          </a:xfrm>
          <a:prstGeom prst="rect">
            <a:avLst/>
          </a:prstGeom>
          <a:noFill/>
          <a:ln/>
        </p:spPr>
        <p:txBody>
          <a:bodyPr wrap="square" lIns="0" tIns="0" rIns="0" bIns="0" rtlCol="0" anchor="ctr"/>
          <a:lstStyle/>
          <a:p>
            <a:pPr marL="0" indent="0">
              <a:buNone/>
            </a:pPr>
            <a:r>
              <a:rPr lang="en-US" sz="1600" dirty="0">
                <a:solidFill>
                  <a:srgbClr val="FFFFFF"/>
                </a:solidFill>
                <a:latin typeface="EB Garamond" pitchFamily="34" charset="0"/>
                <a:ea typeface="EB Garamond" pitchFamily="34" charset="-122"/>
                <a:cs typeface="EB Garamond" pitchFamily="34" charset="-120"/>
              </a:rPr>
              <a:t>Fall 2026 Recruitment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What is activist investing?</a:t>
            </a:r>
            <a:endParaRPr lang="en-US" sz="3400" dirty="0"/>
          </a:p>
        </p:txBody>
      </p:sp>
      <p:sp>
        <p:nvSpPr>
          <p:cNvPr id="3" name="Text 1"/>
          <p:cNvSpPr txBox="1"/>
          <p:nvPr/>
        </p:nvSpPr>
        <p:spPr>
          <a:xfrm>
            <a:off x="1280160" y="1828800"/>
            <a:ext cx="9631375" cy="731520"/>
          </a:xfrm>
          <a:prstGeom prst="rect">
            <a:avLst/>
          </a:prstGeom>
          <a:noFill/>
          <a:ln/>
        </p:spPr>
        <p:txBody>
          <a:bodyPr wrap="square" lIns="0" tIns="0" rIns="0" bIns="0" rtlCol="0" anchor="ctr"/>
          <a:lstStyle/>
          <a:p>
            <a:pPr marL="0" indent="0" algn="ctr">
              <a:buNone/>
            </a:pPr>
            <a:r>
              <a:rPr lang="en-US" sz="1800" dirty="0">
                <a:solidFill>
                  <a:srgbClr val="1F1010"/>
                </a:solidFill>
                <a:latin typeface="EB Garamond" pitchFamily="34" charset="0"/>
                <a:ea typeface="EB Garamond" pitchFamily="34" charset="-122"/>
                <a:cs typeface="EB Garamond" pitchFamily="34" charset="-120"/>
              </a:rPr>
              <a:t>Acquiring a stake in a public company believed to be worth more than its share price reflects, then pressing for changes to close that gap.</a:t>
            </a:r>
            <a:endParaRPr lang="en-US" sz="1800" dirty="0"/>
          </a:p>
        </p:txBody>
      </p:sp>
      <p:sp>
        <p:nvSpPr>
          <p:cNvPr id="4" name="Shape 2"/>
          <p:cNvSpPr/>
          <p:nvPr/>
        </p:nvSpPr>
        <p:spPr>
          <a:xfrm>
            <a:off x="731520" y="2926080"/>
            <a:ext cx="2476424" cy="2514600"/>
          </a:xfrm>
          <a:prstGeom prst="rect">
            <a:avLst/>
          </a:prstGeom>
          <a:solidFill>
            <a:srgbClr val="FFFFFF"/>
          </a:solidFill>
          <a:ln w="9525">
            <a:solidFill>
              <a:srgbClr val="E3DCDA"/>
            </a:solidFill>
            <a:prstDash val="solid"/>
          </a:ln>
        </p:spPr>
        <p:txBody>
          <a:bodyPr/>
          <a:lstStyle/>
          <a:p>
            <a:endParaRPr lang="en-US"/>
          </a:p>
        </p:txBody>
      </p:sp>
      <p:sp>
        <p:nvSpPr>
          <p:cNvPr id="5" name="Shape 3"/>
          <p:cNvSpPr/>
          <p:nvPr/>
        </p:nvSpPr>
        <p:spPr>
          <a:xfrm>
            <a:off x="731520" y="2926080"/>
            <a:ext cx="2476424" cy="45720"/>
          </a:xfrm>
          <a:prstGeom prst="rect">
            <a:avLst/>
          </a:prstGeom>
          <a:solidFill>
            <a:srgbClr val="77080E"/>
          </a:solidFill>
          <a:ln w="12700">
            <a:solidFill>
              <a:srgbClr val="77080E"/>
            </a:solidFill>
            <a:prstDash val="solid"/>
          </a:ln>
        </p:spPr>
        <p:txBody>
          <a:bodyPr/>
          <a:lstStyle/>
          <a:p>
            <a:endParaRPr lang="en-US"/>
          </a:p>
        </p:txBody>
      </p:sp>
      <p:sp>
        <p:nvSpPr>
          <p:cNvPr id="6" name="Shape 4"/>
          <p:cNvSpPr/>
          <p:nvPr/>
        </p:nvSpPr>
        <p:spPr>
          <a:xfrm>
            <a:off x="1005840" y="3246120"/>
            <a:ext cx="457200" cy="457200"/>
          </a:xfrm>
          <a:prstGeom prst="ellipse">
            <a:avLst/>
          </a:prstGeom>
          <a:solidFill>
            <a:srgbClr val="77080E"/>
          </a:solidFill>
          <a:ln w="12700">
            <a:solidFill>
              <a:srgbClr val="77080E"/>
            </a:solidFill>
            <a:prstDash val="solid"/>
          </a:ln>
        </p:spPr>
        <p:txBody>
          <a:bodyPr/>
          <a:lstStyle/>
          <a:p>
            <a:endParaRPr lang="en-US"/>
          </a:p>
        </p:txBody>
      </p:sp>
      <p:sp>
        <p:nvSpPr>
          <p:cNvPr id="7" name="Text 5"/>
          <p:cNvSpPr txBox="1"/>
          <p:nvPr/>
        </p:nvSpPr>
        <p:spPr>
          <a:xfrm>
            <a:off x="1005840" y="3246120"/>
            <a:ext cx="45720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EB Garamond" pitchFamily="34" charset="0"/>
                <a:ea typeface="EB Garamond" pitchFamily="34" charset="-122"/>
                <a:cs typeface="EB Garamond" pitchFamily="34" charset="-120"/>
              </a:rPr>
              <a:t>1</a:t>
            </a:r>
            <a:endParaRPr lang="en-US" sz="1600" dirty="0"/>
          </a:p>
        </p:txBody>
      </p:sp>
      <p:sp>
        <p:nvSpPr>
          <p:cNvPr id="8" name="Text 6"/>
          <p:cNvSpPr txBox="1"/>
          <p:nvPr/>
        </p:nvSpPr>
        <p:spPr>
          <a:xfrm>
            <a:off x="1005840" y="3931920"/>
            <a:ext cx="1927784" cy="365760"/>
          </a:xfrm>
          <a:prstGeom prst="rect">
            <a:avLst/>
          </a:prstGeom>
          <a:noFill/>
          <a:ln/>
        </p:spPr>
        <p:txBody>
          <a:bodyPr wrap="square" lIns="0" tIns="0" rIns="0" bIns="0" rtlCol="0" anchor="ctr"/>
          <a:lstStyle/>
          <a:p>
            <a:pPr marL="0" indent="0">
              <a:buNone/>
            </a:pPr>
            <a:r>
              <a:rPr lang="en-US" sz="1800" dirty="0">
                <a:solidFill>
                  <a:srgbClr val="77080E"/>
                </a:solidFill>
                <a:latin typeface="EB Garamond" pitchFamily="34" charset="0"/>
                <a:ea typeface="EB Garamond" pitchFamily="34" charset="-122"/>
                <a:cs typeface="EB Garamond" pitchFamily="34" charset="-120"/>
              </a:rPr>
              <a:t>Find the gap</a:t>
            </a:r>
            <a:endParaRPr lang="en-US" sz="1800" dirty="0"/>
          </a:p>
        </p:txBody>
      </p:sp>
      <p:sp>
        <p:nvSpPr>
          <p:cNvPr id="9" name="Text 7"/>
          <p:cNvSpPr txBox="1"/>
          <p:nvPr/>
        </p:nvSpPr>
        <p:spPr>
          <a:xfrm>
            <a:off x="1005840" y="4389120"/>
            <a:ext cx="1927784" cy="914400"/>
          </a:xfrm>
          <a:prstGeom prst="rect">
            <a:avLst/>
          </a:prstGeom>
          <a:noFill/>
          <a:ln/>
        </p:spPr>
        <p:txBody>
          <a:bodyPr wrap="square" lIns="0" tIns="0" rIns="0" bIns="0" rtlCol="0" anchor="t"/>
          <a:lstStyle/>
          <a:p>
            <a:pPr marL="0" indent="0">
              <a:buNone/>
            </a:pPr>
            <a:r>
              <a:rPr lang="en-US" sz="1300" dirty="0">
                <a:solidFill>
                  <a:srgbClr val="1F1010"/>
                </a:solidFill>
                <a:latin typeface="EB Garamond" pitchFamily="34" charset="0"/>
                <a:ea typeface="EB Garamond" pitchFamily="34" charset="-122"/>
                <a:cs typeface="EB Garamond" pitchFamily="34" charset="-120"/>
              </a:rPr>
              <a:t>A good company whose share price undervalues what it could be worth.</a:t>
            </a:r>
            <a:endParaRPr lang="en-US" sz="1300" dirty="0"/>
          </a:p>
        </p:txBody>
      </p:sp>
      <p:sp>
        <p:nvSpPr>
          <p:cNvPr id="10" name="Shape 8"/>
          <p:cNvSpPr/>
          <p:nvPr/>
        </p:nvSpPr>
        <p:spPr>
          <a:xfrm>
            <a:off x="3482264" y="2926080"/>
            <a:ext cx="2476424" cy="2514600"/>
          </a:xfrm>
          <a:prstGeom prst="rect">
            <a:avLst/>
          </a:prstGeom>
          <a:solidFill>
            <a:srgbClr val="FFFFFF"/>
          </a:solidFill>
          <a:ln w="9525">
            <a:solidFill>
              <a:srgbClr val="E3DCDA"/>
            </a:solidFill>
            <a:prstDash val="solid"/>
          </a:ln>
        </p:spPr>
        <p:txBody>
          <a:bodyPr/>
          <a:lstStyle/>
          <a:p>
            <a:endParaRPr lang="en-US"/>
          </a:p>
        </p:txBody>
      </p:sp>
      <p:sp>
        <p:nvSpPr>
          <p:cNvPr id="11" name="Shape 9"/>
          <p:cNvSpPr/>
          <p:nvPr/>
        </p:nvSpPr>
        <p:spPr>
          <a:xfrm>
            <a:off x="3482264" y="2926080"/>
            <a:ext cx="2476424" cy="45720"/>
          </a:xfrm>
          <a:prstGeom prst="rect">
            <a:avLst/>
          </a:prstGeom>
          <a:solidFill>
            <a:srgbClr val="77080E"/>
          </a:solidFill>
          <a:ln w="12700">
            <a:solidFill>
              <a:srgbClr val="77080E"/>
            </a:solidFill>
            <a:prstDash val="solid"/>
          </a:ln>
        </p:spPr>
        <p:txBody>
          <a:bodyPr/>
          <a:lstStyle/>
          <a:p>
            <a:endParaRPr lang="en-US"/>
          </a:p>
        </p:txBody>
      </p:sp>
      <p:sp>
        <p:nvSpPr>
          <p:cNvPr id="12" name="Shape 10"/>
          <p:cNvSpPr/>
          <p:nvPr/>
        </p:nvSpPr>
        <p:spPr>
          <a:xfrm>
            <a:off x="3756584" y="3246120"/>
            <a:ext cx="457200" cy="457200"/>
          </a:xfrm>
          <a:prstGeom prst="ellipse">
            <a:avLst/>
          </a:prstGeom>
          <a:solidFill>
            <a:srgbClr val="77080E"/>
          </a:solidFill>
          <a:ln w="12700">
            <a:solidFill>
              <a:srgbClr val="77080E"/>
            </a:solidFill>
            <a:prstDash val="solid"/>
          </a:ln>
        </p:spPr>
        <p:txBody>
          <a:bodyPr/>
          <a:lstStyle/>
          <a:p>
            <a:endParaRPr lang="en-US"/>
          </a:p>
        </p:txBody>
      </p:sp>
      <p:sp>
        <p:nvSpPr>
          <p:cNvPr id="13" name="Text 11"/>
          <p:cNvSpPr txBox="1"/>
          <p:nvPr/>
        </p:nvSpPr>
        <p:spPr>
          <a:xfrm>
            <a:off x="3756584" y="3246120"/>
            <a:ext cx="45720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EB Garamond" pitchFamily="34" charset="0"/>
                <a:ea typeface="EB Garamond" pitchFamily="34" charset="-122"/>
                <a:cs typeface="EB Garamond" pitchFamily="34" charset="-120"/>
              </a:rPr>
              <a:t>2</a:t>
            </a:r>
            <a:endParaRPr lang="en-US" sz="1600" dirty="0"/>
          </a:p>
        </p:txBody>
      </p:sp>
      <p:sp>
        <p:nvSpPr>
          <p:cNvPr id="14" name="Text 12"/>
          <p:cNvSpPr txBox="1"/>
          <p:nvPr/>
        </p:nvSpPr>
        <p:spPr>
          <a:xfrm>
            <a:off x="3756584" y="3931920"/>
            <a:ext cx="1927784" cy="365760"/>
          </a:xfrm>
          <a:prstGeom prst="rect">
            <a:avLst/>
          </a:prstGeom>
          <a:noFill/>
          <a:ln/>
        </p:spPr>
        <p:txBody>
          <a:bodyPr wrap="square" lIns="0" tIns="0" rIns="0" bIns="0" rtlCol="0" anchor="ctr"/>
          <a:lstStyle/>
          <a:p>
            <a:pPr marL="0" indent="0">
              <a:buNone/>
            </a:pPr>
            <a:r>
              <a:rPr lang="en-US" sz="1800" dirty="0">
                <a:solidFill>
                  <a:srgbClr val="77080E"/>
                </a:solidFill>
                <a:latin typeface="EB Garamond" pitchFamily="34" charset="0"/>
                <a:ea typeface="EB Garamond" pitchFamily="34" charset="-122"/>
                <a:cs typeface="EB Garamond" pitchFamily="34" charset="-120"/>
              </a:rPr>
              <a:t>Build a stake</a:t>
            </a:r>
            <a:endParaRPr lang="en-US" sz="1800" dirty="0"/>
          </a:p>
        </p:txBody>
      </p:sp>
      <p:sp>
        <p:nvSpPr>
          <p:cNvPr id="15" name="Text 13"/>
          <p:cNvSpPr txBox="1"/>
          <p:nvPr/>
        </p:nvSpPr>
        <p:spPr>
          <a:xfrm>
            <a:off x="3756584" y="4389120"/>
            <a:ext cx="1927784" cy="914400"/>
          </a:xfrm>
          <a:prstGeom prst="rect">
            <a:avLst/>
          </a:prstGeom>
          <a:noFill/>
          <a:ln/>
        </p:spPr>
        <p:txBody>
          <a:bodyPr wrap="square" lIns="0" tIns="0" rIns="0" bIns="0" rtlCol="0" anchor="t"/>
          <a:lstStyle/>
          <a:p>
            <a:pPr marL="0" indent="0">
              <a:buNone/>
            </a:pPr>
            <a:r>
              <a:rPr lang="en-US" sz="1300" dirty="0">
                <a:solidFill>
                  <a:srgbClr val="1F1010"/>
                </a:solidFill>
                <a:latin typeface="EB Garamond" pitchFamily="34" charset="0"/>
                <a:ea typeface="EB Garamond" pitchFamily="34" charset="-122"/>
                <a:cs typeface="EB Garamond" pitchFamily="34" charset="-120"/>
              </a:rPr>
              <a:t>Buy enough shares to have a credible voice with management and the board.</a:t>
            </a:r>
            <a:endParaRPr lang="en-US" sz="1300" dirty="0"/>
          </a:p>
        </p:txBody>
      </p:sp>
      <p:sp>
        <p:nvSpPr>
          <p:cNvPr id="16" name="Shape 14"/>
          <p:cNvSpPr/>
          <p:nvPr/>
        </p:nvSpPr>
        <p:spPr>
          <a:xfrm>
            <a:off x="6233008" y="2926080"/>
            <a:ext cx="2476424" cy="2514600"/>
          </a:xfrm>
          <a:prstGeom prst="rect">
            <a:avLst/>
          </a:prstGeom>
          <a:solidFill>
            <a:srgbClr val="FFFFFF"/>
          </a:solidFill>
          <a:ln w="9525">
            <a:solidFill>
              <a:srgbClr val="E3DCDA"/>
            </a:solidFill>
            <a:prstDash val="solid"/>
          </a:ln>
        </p:spPr>
        <p:txBody>
          <a:bodyPr/>
          <a:lstStyle/>
          <a:p>
            <a:endParaRPr lang="en-US"/>
          </a:p>
        </p:txBody>
      </p:sp>
      <p:sp>
        <p:nvSpPr>
          <p:cNvPr id="17" name="Shape 15"/>
          <p:cNvSpPr/>
          <p:nvPr/>
        </p:nvSpPr>
        <p:spPr>
          <a:xfrm>
            <a:off x="6233008" y="2926080"/>
            <a:ext cx="2476424" cy="45720"/>
          </a:xfrm>
          <a:prstGeom prst="rect">
            <a:avLst/>
          </a:prstGeom>
          <a:solidFill>
            <a:srgbClr val="77080E"/>
          </a:solidFill>
          <a:ln w="12700">
            <a:solidFill>
              <a:srgbClr val="77080E"/>
            </a:solidFill>
            <a:prstDash val="solid"/>
          </a:ln>
        </p:spPr>
        <p:txBody>
          <a:bodyPr/>
          <a:lstStyle/>
          <a:p>
            <a:endParaRPr lang="en-US"/>
          </a:p>
        </p:txBody>
      </p:sp>
      <p:sp>
        <p:nvSpPr>
          <p:cNvPr id="18" name="Shape 16"/>
          <p:cNvSpPr/>
          <p:nvPr/>
        </p:nvSpPr>
        <p:spPr>
          <a:xfrm>
            <a:off x="6507328" y="3246120"/>
            <a:ext cx="457200" cy="457200"/>
          </a:xfrm>
          <a:prstGeom prst="ellipse">
            <a:avLst/>
          </a:prstGeom>
          <a:solidFill>
            <a:srgbClr val="77080E"/>
          </a:solidFill>
          <a:ln w="12700">
            <a:solidFill>
              <a:srgbClr val="77080E"/>
            </a:solidFill>
            <a:prstDash val="solid"/>
          </a:ln>
        </p:spPr>
        <p:txBody>
          <a:bodyPr/>
          <a:lstStyle/>
          <a:p>
            <a:endParaRPr lang="en-US"/>
          </a:p>
        </p:txBody>
      </p:sp>
      <p:sp>
        <p:nvSpPr>
          <p:cNvPr id="19" name="Text 17"/>
          <p:cNvSpPr txBox="1"/>
          <p:nvPr/>
        </p:nvSpPr>
        <p:spPr>
          <a:xfrm>
            <a:off x="6507328" y="3246120"/>
            <a:ext cx="45720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EB Garamond" pitchFamily="34" charset="0"/>
                <a:ea typeface="EB Garamond" pitchFamily="34" charset="-122"/>
                <a:cs typeface="EB Garamond" pitchFamily="34" charset="-120"/>
              </a:rPr>
              <a:t>3</a:t>
            </a:r>
            <a:endParaRPr lang="en-US" sz="1600" dirty="0"/>
          </a:p>
        </p:txBody>
      </p:sp>
      <p:sp>
        <p:nvSpPr>
          <p:cNvPr id="20" name="Text 18"/>
          <p:cNvSpPr txBox="1"/>
          <p:nvPr/>
        </p:nvSpPr>
        <p:spPr>
          <a:xfrm>
            <a:off x="6507328" y="3931920"/>
            <a:ext cx="1927784" cy="365760"/>
          </a:xfrm>
          <a:prstGeom prst="rect">
            <a:avLst/>
          </a:prstGeom>
          <a:noFill/>
          <a:ln/>
        </p:spPr>
        <p:txBody>
          <a:bodyPr wrap="square" lIns="0" tIns="0" rIns="0" bIns="0" rtlCol="0" anchor="ctr"/>
          <a:lstStyle/>
          <a:p>
            <a:pPr marL="0" indent="0">
              <a:buNone/>
            </a:pPr>
            <a:r>
              <a:rPr lang="en-US" sz="1800" dirty="0">
                <a:solidFill>
                  <a:srgbClr val="77080E"/>
                </a:solidFill>
                <a:latin typeface="EB Garamond" pitchFamily="34" charset="0"/>
                <a:ea typeface="EB Garamond" pitchFamily="34" charset="-122"/>
                <a:cs typeface="EB Garamond" pitchFamily="34" charset="-120"/>
              </a:rPr>
              <a:t>Push for change</a:t>
            </a:r>
            <a:endParaRPr lang="en-US" sz="1800" dirty="0"/>
          </a:p>
        </p:txBody>
      </p:sp>
      <p:sp>
        <p:nvSpPr>
          <p:cNvPr id="21" name="Text 19"/>
          <p:cNvSpPr txBox="1"/>
          <p:nvPr/>
        </p:nvSpPr>
        <p:spPr>
          <a:xfrm>
            <a:off x="6507328" y="4389120"/>
            <a:ext cx="1927784" cy="914400"/>
          </a:xfrm>
          <a:prstGeom prst="rect">
            <a:avLst/>
          </a:prstGeom>
          <a:noFill/>
          <a:ln/>
        </p:spPr>
        <p:txBody>
          <a:bodyPr wrap="square" lIns="0" tIns="0" rIns="0" bIns="0" rtlCol="0" anchor="t"/>
          <a:lstStyle/>
          <a:p>
            <a:pPr marL="0" indent="0">
              <a:buNone/>
            </a:pPr>
            <a:r>
              <a:rPr lang="en-US" sz="1300" dirty="0">
                <a:solidFill>
                  <a:srgbClr val="1F1010"/>
                </a:solidFill>
                <a:latin typeface="EB Garamond" pitchFamily="34" charset="0"/>
                <a:ea typeface="EB Garamond" pitchFamily="34" charset="-122"/>
                <a:cs typeface="EB Garamond" pitchFamily="34" charset="-120"/>
              </a:rPr>
              <a:t>A revised strategy, asset sales, cost reductions, capital returns, or new leadership.</a:t>
            </a:r>
            <a:endParaRPr lang="en-US" sz="1300" dirty="0"/>
          </a:p>
        </p:txBody>
      </p:sp>
      <p:sp>
        <p:nvSpPr>
          <p:cNvPr id="22" name="Shape 20"/>
          <p:cNvSpPr/>
          <p:nvPr/>
        </p:nvSpPr>
        <p:spPr>
          <a:xfrm>
            <a:off x="8983751" y="2926080"/>
            <a:ext cx="2476424" cy="2514600"/>
          </a:xfrm>
          <a:prstGeom prst="rect">
            <a:avLst/>
          </a:prstGeom>
          <a:solidFill>
            <a:srgbClr val="FFFFFF"/>
          </a:solidFill>
          <a:ln w="9525">
            <a:solidFill>
              <a:srgbClr val="E3DCDA"/>
            </a:solidFill>
            <a:prstDash val="solid"/>
          </a:ln>
        </p:spPr>
        <p:txBody>
          <a:bodyPr/>
          <a:lstStyle/>
          <a:p>
            <a:endParaRPr lang="en-US"/>
          </a:p>
        </p:txBody>
      </p:sp>
      <p:sp>
        <p:nvSpPr>
          <p:cNvPr id="23" name="Shape 21"/>
          <p:cNvSpPr/>
          <p:nvPr/>
        </p:nvSpPr>
        <p:spPr>
          <a:xfrm>
            <a:off x="8983751" y="2926080"/>
            <a:ext cx="2476424" cy="45720"/>
          </a:xfrm>
          <a:prstGeom prst="rect">
            <a:avLst/>
          </a:prstGeom>
          <a:solidFill>
            <a:srgbClr val="77080E"/>
          </a:solidFill>
          <a:ln w="12700">
            <a:solidFill>
              <a:srgbClr val="77080E"/>
            </a:solidFill>
            <a:prstDash val="solid"/>
          </a:ln>
        </p:spPr>
        <p:txBody>
          <a:bodyPr/>
          <a:lstStyle/>
          <a:p>
            <a:endParaRPr lang="en-US"/>
          </a:p>
        </p:txBody>
      </p:sp>
      <p:sp>
        <p:nvSpPr>
          <p:cNvPr id="24" name="Shape 22"/>
          <p:cNvSpPr/>
          <p:nvPr/>
        </p:nvSpPr>
        <p:spPr>
          <a:xfrm>
            <a:off x="9258071" y="3246120"/>
            <a:ext cx="457200" cy="457200"/>
          </a:xfrm>
          <a:prstGeom prst="ellipse">
            <a:avLst/>
          </a:prstGeom>
          <a:solidFill>
            <a:srgbClr val="77080E"/>
          </a:solidFill>
          <a:ln w="12700">
            <a:solidFill>
              <a:srgbClr val="77080E"/>
            </a:solidFill>
            <a:prstDash val="solid"/>
          </a:ln>
        </p:spPr>
        <p:txBody>
          <a:bodyPr/>
          <a:lstStyle/>
          <a:p>
            <a:endParaRPr lang="en-US"/>
          </a:p>
        </p:txBody>
      </p:sp>
      <p:sp>
        <p:nvSpPr>
          <p:cNvPr id="25" name="Text 23"/>
          <p:cNvSpPr txBox="1"/>
          <p:nvPr/>
        </p:nvSpPr>
        <p:spPr>
          <a:xfrm>
            <a:off x="9258071" y="3246120"/>
            <a:ext cx="45720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EB Garamond" pitchFamily="34" charset="0"/>
                <a:ea typeface="EB Garamond" pitchFamily="34" charset="-122"/>
                <a:cs typeface="EB Garamond" pitchFamily="34" charset="-120"/>
              </a:rPr>
              <a:t>4</a:t>
            </a:r>
            <a:endParaRPr lang="en-US" sz="1600" dirty="0"/>
          </a:p>
        </p:txBody>
      </p:sp>
      <p:sp>
        <p:nvSpPr>
          <p:cNvPr id="26" name="Text 24"/>
          <p:cNvSpPr txBox="1"/>
          <p:nvPr/>
        </p:nvSpPr>
        <p:spPr>
          <a:xfrm>
            <a:off x="9258071" y="3931920"/>
            <a:ext cx="1927784" cy="365760"/>
          </a:xfrm>
          <a:prstGeom prst="rect">
            <a:avLst/>
          </a:prstGeom>
          <a:noFill/>
          <a:ln/>
        </p:spPr>
        <p:txBody>
          <a:bodyPr wrap="square" lIns="0" tIns="0" rIns="0" bIns="0" rtlCol="0" anchor="ctr"/>
          <a:lstStyle/>
          <a:p>
            <a:pPr marL="0" indent="0">
              <a:buNone/>
            </a:pPr>
            <a:r>
              <a:rPr lang="en-US" sz="1800" dirty="0">
                <a:solidFill>
                  <a:srgbClr val="77080E"/>
                </a:solidFill>
                <a:latin typeface="EB Garamond" pitchFamily="34" charset="0"/>
                <a:ea typeface="EB Garamond" pitchFamily="34" charset="-122"/>
                <a:cs typeface="EB Garamond" pitchFamily="34" charset="-120"/>
              </a:rPr>
              <a:t>Escalate if needed</a:t>
            </a:r>
            <a:endParaRPr lang="en-US" sz="1800" dirty="0"/>
          </a:p>
        </p:txBody>
      </p:sp>
      <p:sp>
        <p:nvSpPr>
          <p:cNvPr id="27" name="Text 25"/>
          <p:cNvSpPr txBox="1"/>
          <p:nvPr/>
        </p:nvSpPr>
        <p:spPr>
          <a:xfrm>
            <a:off x="9258071" y="4389120"/>
            <a:ext cx="1927784" cy="914400"/>
          </a:xfrm>
          <a:prstGeom prst="rect">
            <a:avLst/>
          </a:prstGeom>
          <a:noFill/>
          <a:ln/>
        </p:spPr>
        <p:txBody>
          <a:bodyPr wrap="square" lIns="0" tIns="0" rIns="0" bIns="0" rtlCol="0" anchor="t"/>
          <a:lstStyle/>
          <a:p>
            <a:pPr marL="0" indent="0">
              <a:buNone/>
            </a:pPr>
            <a:r>
              <a:rPr lang="en-US" sz="1300" dirty="0">
                <a:solidFill>
                  <a:srgbClr val="1F1010"/>
                </a:solidFill>
                <a:latin typeface="EB Garamond" pitchFamily="34" charset="0"/>
                <a:ea typeface="EB Garamond" pitchFamily="34" charset="-122"/>
                <a:cs typeface="EB Garamond" pitchFamily="34" charset="-120"/>
              </a:rPr>
              <a:t>From private engagement to public letters, board nominations, and proxy contests.</a:t>
            </a:r>
            <a:endParaRPr lang="en-US" sz="1300" dirty="0"/>
          </a:p>
        </p:txBody>
      </p:sp>
      <p:sp>
        <p:nvSpPr>
          <p:cNvPr id="28"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What we do</a:t>
            </a:r>
            <a:endParaRPr lang="en-US" sz="3400" dirty="0"/>
          </a:p>
        </p:txBody>
      </p:sp>
      <p:sp>
        <p:nvSpPr>
          <p:cNvPr id="3" name="Shape 1"/>
          <p:cNvSpPr/>
          <p:nvPr/>
        </p:nvSpPr>
        <p:spPr>
          <a:xfrm>
            <a:off x="731520" y="1965960"/>
            <a:ext cx="2476424" cy="3657600"/>
          </a:xfrm>
          <a:prstGeom prst="rect">
            <a:avLst/>
          </a:prstGeom>
          <a:solidFill>
            <a:srgbClr val="FFFFFF"/>
          </a:solidFill>
          <a:ln w="9525">
            <a:solidFill>
              <a:srgbClr val="E3DCDA"/>
            </a:solidFill>
            <a:prstDash val="solid"/>
          </a:ln>
        </p:spPr>
        <p:txBody>
          <a:bodyPr/>
          <a:lstStyle/>
          <a:p>
            <a:endParaRPr lang="en-US"/>
          </a:p>
        </p:txBody>
      </p:sp>
      <p:sp>
        <p:nvSpPr>
          <p:cNvPr id="4" name="Shape 2"/>
          <p:cNvSpPr/>
          <p:nvPr/>
        </p:nvSpPr>
        <p:spPr>
          <a:xfrm>
            <a:off x="731520" y="1965960"/>
            <a:ext cx="2476424" cy="45720"/>
          </a:xfrm>
          <a:prstGeom prst="rect">
            <a:avLst/>
          </a:prstGeom>
          <a:solidFill>
            <a:srgbClr val="77080E"/>
          </a:solidFill>
          <a:ln w="12700">
            <a:solidFill>
              <a:srgbClr val="77080E"/>
            </a:solidFill>
            <a:prstDash val="solid"/>
          </a:ln>
        </p:spPr>
        <p:txBody>
          <a:bodyPr/>
          <a:lstStyle/>
          <a:p>
            <a:endParaRPr lang="en-US"/>
          </a:p>
        </p:txBody>
      </p:sp>
      <p:sp>
        <p:nvSpPr>
          <p:cNvPr id="5" name="Shape 3"/>
          <p:cNvSpPr/>
          <p:nvPr/>
        </p:nvSpPr>
        <p:spPr>
          <a:xfrm>
            <a:off x="1581112" y="2377440"/>
            <a:ext cx="777240" cy="777240"/>
          </a:xfrm>
          <a:prstGeom prst="ellipse">
            <a:avLst/>
          </a:prstGeom>
          <a:solidFill>
            <a:srgbClr val="77080E"/>
          </a:solidFill>
          <a:ln w="12700">
            <a:solidFill>
              <a:srgbClr val="77080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777708" y="2574036"/>
            <a:ext cx="384048" cy="384048"/>
          </a:xfrm>
          <a:prstGeom prst="rect">
            <a:avLst/>
          </a:prstGeom>
        </p:spPr>
      </p:pic>
      <p:sp>
        <p:nvSpPr>
          <p:cNvPr id="7" name="Text 4"/>
          <p:cNvSpPr txBox="1"/>
          <p:nvPr/>
        </p:nvSpPr>
        <p:spPr>
          <a:xfrm>
            <a:off x="960120" y="3383280"/>
            <a:ext cx="2019224" cy="685800"/>
          </a:xfrm>
          <a:prstGeom prst="rect">
            <a:avLst/>
          </a:prstGeom>
          <a:noFill/>
          <a:ln/>
        </p:spPr>
        <p:txBody>
          <a:bodyPr wrap="square" lIns="0" tIns="0" rIns="0" bIns="0" rtlCol="0" anchor="t"/>
          <a:lstStyle/>
          <a:p>
            <a:pPr marL="0" indent="0" algn="ctr">
              <a:buNone/>
            </a:pPr>
            <a:r>
              <a:rPr lang="en-US" sz="1800" dirty="0">
                <a:solidFill>
                  <a:srgbClr val="77080E"/>
                </a:solidFill>
                <a:latin typeface="EB Garamond" pitchFamily="34" charset="0"/>
                <a:ea typeface="EB Garamond" pitchFamily="34" charset="-122"/>
                <a:cs typeface="EB Garamond" pitchFamily="34" charset="-120"/>
              </a:rPr>
              <a:t>Guest Speakers</a:t>
            </a:r>
            <a:endParaRPr lang="en-US" sz="1800" dirty="0"/>
          </a:p>
        </p:txBody>
      </p:sp>
      <p:sp>
        <p:nvSpPr>
          <p:cNvPr id="8" name="Text 5"/>
          <p:cNvSpPr txBox="1"/>
          <p:nvPr/>
        </p:nvSpPr>
        <p:spPr>
          <a:xfrm>
            <a:off x="1005840" y="4114800"/>
            <a:ext cx="1927784" cy="1325880"/>
          </a:xfrm>
          <a:prstGeom prst="rect">
            <a:avLst/>
          </a:prstGeom>
          <a:noFill/>
          <a:ln/>
        </p:spPr>
        <p:txBody>
          <a:bodyPr wrap="square" lIns="0" tIns="0" rIns="0" bIns="0" rtlCol="0" anchor="t"/>
          <a:lstStyle/>
          <a:p>
            <a:pPr marL="0" indent="0" algn="ctr">
              <a:buNone/>
            </a:pPr>
            <a:r>
              <a:rPr lang="en-US" sz="1300" dirty="0">
                <a:solidFill>
                  <a:srgbClr val="1F1010"/>
                </a:solidFill>
                <a:latin typeface="EB Garamond" pitchFamily="34" charset="0"/>
                <a:ea typeface="EB Garamond" pitchFamily="34" charset="-122"/>
                <a:cs typeface="EB Garamond" pitchFamily="34" charset="-120"/>
              </a:rPr>
              <a:t>Leading investors, advisors, and executives who have shaped some of the most notable activist campaigns.</a:t>
            </a:r>
            <a:endParaRPr lang="en-US" sz="1300" dirty="0"/>
          </a:p>
        </p:txBody>
      </p:sp>
      <p:sp>
        <p:nvSpPr>
          <p:cNvPr id="9" name="Shape 6"/>
          <p:cNvSpPr/>
          <p:nvPr/>
        </p:nvSpPr>
        <p:spPr>
          <a:xfrm>
            <a:off x="3482264" y="1965960"/>
            <a:ext cx="2476424" cy="3657600"/>
          </a:xfrm>
          <a:prstGeom prst="rect">
            <a:avLst/>
          </a:prstGeom>
          <a:solidFill>
            <a:srgbClr val="FFFFFF"/>
          </a:solidFill>
          <a:ln w="9525">
            <a:solidFill>
              <a:srgbClr val="E3DCDA"/>
            </a:solidFill>
            <a:prstDash val="solid"/>
          </a:ln>
        </p:spPr>
        <p:txBody>
          <a:bodyPr/>
          <a:lstStyle/>
          <a:p>
            <a:endParaRPr lang="en-US"/>
          </a:p>
        </p:txBody>
      </p:sp>
      <p:sp>
        <p:nvSpPr>
          <p:cNvPr id="10" name="Shape 7"/>
          <p:cNvSpPr/>
          <p:nvPr/>
        </p:nvSpPr>
        <p:spPr>
          <a:xfrm>
            <a:off x="3482264" y="1965960"/>
            <a:ext cx="2476424" cy="45720"/>
          </a:xfrm>
          <a:prstGeom prst="rect">
            <a:avLst/>
          </a:prstGeom>
          <a:solidFill>
            <a:srgbClr val="77080E"/>
          </a:solidFill>
          <a:ln w="12700">
            <a:solidFill>
              <a:srgbClr val="77080E"/>
            </a:solidFill>
            <a:prstDash val="solid"/>
          </a:ln>
        </p:spPr>
        <p:txBody>
          <a:bodyPr/>
          <a:lstStyle/>
          <a:p>
            <a:endParaRPr lang="en-US"/>
          </a:p>
        </p:txBody>
      </p:sp>
      <p:sp>
        <p:nvSpPr>
          <p:cNvPr id="11" name="Shape 8"/>
          <p:cNvSpPr/>
          <p:nvPr/>
        </p:nvSpPr>
        <p:spPr>
          <a:xfrm>
            <a:off x="4331856" y="2377440"/>
            <a:ext cx="777240" cy="777240"/>
          </a:xfrm>
          <a:prstGeom prst="ellipse">
            <a:avLst/>
          </a:prstGeom>
          <a:solidFill>
            <a:srgbClr val="77080E"/>
          </a:solidFill>
          <a:ln w="12700">
            <a:solidFill>
              <a:srgbClr val="77080E"/>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528452" y="2574036"/>
            <a:ext cx="384048" cy="384048"/>
          </a:xfrm>
          <a:prstGeom prst="rect">
            <a:avLst/>
          </a:prstGeom>
        </p:spPr>
      </p:pic>
      <p:sp>
        <p:nvSpPr>
          <p:cNvPr id="13" name="Text 9"/>
          <p:cNvSpPr txBox="1"/>
          <p:nvPr/>
        </p:nvSpPr>
        <p:spPr>
          <a:xfrm>
            <a:off x="3710864" y="3383280"/>
            <a:ext cx="2019224" cy="685800"/>
          </a:xfrm>
          <a:prstGeom prst="rect">
            <a:avLst/>
          </a:prstGeom>
          <a:noFill/>
          <a:ln/>
        </p:spPr>
        <p:txBody>
          <a:bodyPr wrap="square" lIns="0" tIns="0" rIns="0" bIns="0" rtlCol="0" anchor="t"/>
          <a:lstStyle/>
          <a:p>
            <a:pPr marL="0" indent="0" algn="ctr">
              <a:buNone/>
            </a:pPr>
            <a:r>
              <a:rPr lang="en-US" sz="1800" dirty="0">
                <a:solidFill>
                  <a:srgbClr val="77080E"/>
                </a:solidFill>
                <a:latin typeface="EB Garamond" pitchFamily="34" charset="0"/>
                <a:ea typeface="EB Garamond" pitchFamily="34" charset="-122"/>
                <a:cs typeface="EB Garamond" pitchFamily="34" charset="-120"/>
              </a:rPr>
              <a:t>Educational Sessions</a:t>
            </a:r>
            <a:endParaRPr lang="en-US" sz="1800" dirty="0"/>
          </a:p>
        </p:txBody>
      </p:sp>
      <p:sp>
        <p:nvSpPr>
          <p:cNvPr id="14" name="Text 10"/>
          <p:cNvSpPr txBox="1"/>
          <p:nvPr/>
        </p:nvSpPr>
        <p:spPr>
          <a:xfrm>
            <a:off x="3756584" y="4114800"/>
            <a:ext cx="1927784" cy="1325880"/>
          </a:xfrm>
          <a:prstGeom prst="rect">
            <a:avLst/>
          </a:prstGeom>
          <a:noFill/>
          <a:ln/>
        </p:spPr>
        <p:txBody>
          <a:bodyPr wrap="square" lIns="0" tIns="0" rIns="0" bIns="0" rtlCol="0" anchor="t"/>
          <a:lstStyle/>
          <a:p>
            <a:pPr marL="0" indent="0" algn="ctr">
              <a:buNone/>
            </a:pPr>
            <a:r>
              <a:rPr lang="en-US" sz="1300" dirty="0">
                <a:solidFill>
                  <a:srgbClr val="1F1010"/>
                </a:solidFill>
                <a:latin typeface="EB Garamond" pitchFamily="34" charset="0"/>
                <a:ea typeface="EB Garamond" pitchFamily="34" charset="-122"/>
                <a:cs typeface="EB Garamond" pitchFamily="34" charset="-120"/>
              </a:rPr>
              <a:t>A structured curriculum from financial analysis and valuation to capital allocation, governance, and activist strategy.</a:t>
            </a:r>
            <a:endParaRPr lang="en-US" sz="1300" dirty="0"/>
          </a:p>
        </p:txBody>
      </p:sp>
      <p:sp>
        <p:nvSpPr>
          <p:cNvPr id="15" name="Shape 11"/>
          <p:cNvSpPr/>
          <p:nvPr/>
        </p:nvSpPr>
        <p:spPr>
          <a:xfrm>
            <a:off x="6233008" y="1965960"/>
            <a:ext cx="2476424" cy="3657600"/>
          </a:xfrm>
          <a:prstGeom prst="rect">
            <a:avLst/>
          </a:prstGeom>
          <a:solidFill>
            <a:srgbClr val="FFFFFF"/>
          </a:solidFill>
          <a:ln w="9525">
            <a:solidFill>
              <a:srgbClr val="E3DCDA"/>
            </a:solidFill>
            <a:prstDash val="solid"/>
          </a:ln>
        </p:spPr>
        <p:txBody>
          <a:bodyPr/>
          <a:lstStyle/>
          <a:p>
            <a:endParaRPr lang="en-US"/>
          </a:p>
        </p:txBody>
      </p:sp>
      <p:sp>
        <p:nvSpPr>
          <p:cNvPr id="16" name="Shape 12"/>
          <p:cNvSpPr/>
          <p:nvPr/>
        </p:nvSpPr>
        <p:spPr>
          <a:xfrm>
            <a:off x="6233008" y="1965960"/>
            <a:ext cx="2476424" cy="45720"/>
          </a:xfrm>
          <a:prstGeom prst="rect">
            <a:avLst/>
          </a:prstGeom>
          <a:solidFill>
            <a:srgbClr val="77080E"/>
          </a:solidFill>
          <a:ln w="12700">
            <a:solidFill>
              <a:srgbClr val="77080E"/>
            </a:solidFill>
            <a:prstDash val="solid"/>
          </a:ln>
        </p:spPr>
        <p:txBody>
          <a:bodyPr/>
          <a:lstStyle/>
          <a:p>
            <a:endParaRPr lang="en-US"/>
          </a:p>
        </p:txBody>
      </p:sp>
      <p:sp>
        <p:nvSpPr>
          <p:cNvPr id="17" name="Shape 13"/>
          <p:cNvSpPr/>
          <p:nvPr/>
        </p:nvSpPr>
        <p:spPr>
          <a:xfrm>
            <a:off x="7082600" y="2377440"/>
            <a:ext cx="777240" cy="777240"/>
          </a:xfrm>
          <a:prstGeom prst="ellipse">
            <a:avLst/>
          </a:prstGeom>
          <a:solidFill>
            <a:srgbClr val="77080E"/>
          </a:solidFill>
          <a:ln w="12700">
            <a:solidFill>
              <a:srgbClr val="77080E"/>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7279195" y="2574036"/>
            <a:ext cx="384048" cy="384048"/>
          </a:xfrm>
          <a:prstGeom prst="rect">
            <a:avLst/>
          </a:prstGeom>
        </p:spPr>
      </p:pic>
      <p:sp>
        <p:nvSpPr>
          <p:cNvPr id="19" name="Text 14"/>
          <p:cNvSpPr txBox="1"/>
          <p:nvPr/>
        </p:nvSpPr>
        <p:spPr>
          <a:xfrm>
            <a:off x="6461608" y="3383280"/>
            <a:ext cx="2019224" cy="685800"/>
          </a:xfrm>
          <a:prstGeom prst="rect">
            <a:avLst/>
          </a:prstGeom>
          <a:noFill/>
          <a:ln/>
        </p:spPr>
        <p:txBody>
          <a:bodyPr wrap="square" lIns="0" tIns="0" rIns="0" bIns="0" rtlCol="0" anchor="t"/>
          <a:lstStyle/>
          <a:p>
            <a:pPr marL="0" indent="0" algn="ctr">
              <a:buNone/>
            </a:pPr>
            <a:r>
              <a:rPr lang="en-US" sz="1800" dirty="0">
                <a:solidFill>
                  <a:srgbClr val="77080E"/>
                </a:solidFill>
                <a:latin typeface="EB Garamond" pitchFamily="34" charset="0"/>
                <a:ea typeface="EB Garamond" pitchFamily="34" charset="-122"/>
                <a:cs typeface="EB Garamond" pitchFamily="34" charset="-120"/>
              </a:rPr>
              <a:t>Activist Investment Pitches</a:t>
            </a:r>
            <a:endParaRPr lang="en-US" sz="1800" dirty="0"/>
          </a:p>
        </p:txBody>
      </p:sp>
      <p:sp>
        <p:nvSpPr>
          <p:cNvPr id="20" name="Text 15"/>
          <p:cNvSpPr txBox="1"/>
          <p:nvPr/>
        </p:nvSpPr>
        <p:spPr>
          <a:xfrm>
            <a:off x="6507328" y="4114800"/>
            <a:ext cx="1927784" cy="1325880"/>
          </a:xfrm>
          <a:prstGeom prst="rect">
            <a:avLst/>
          </a:prstGeom>
          <a:noFill/>
          <a:ln/>
        </p:spPr>
        <p:txBody>
          <a:bodyPr wrap="square" lIns="0" tIns="0" rIns="0" bIns="0" rtlCol="0" anchor="t"/>
          <a:lstStyle/>
          <a:p>
            <a:pPr marL="0" indent="0" algn="ctr">
              <a:buNone/>
            </a:pPr>
            <a:r>
              <a:rPr lang="en-US" sz="1300" dirty="0">
                <a:solidFill>
                  <a:srgbClr val="1F1010"/>
                </a:solidFill>
                <a:latin typeface="EB Garamond" pitchFamily="34" charset="0"/>
                <a:ea typeface="EB Garamond" pitchFamily="34" charset="-122"/>
                <a:cs typeface="EB Garamond" pitchFamily="34" charset="-120"/>
              </a:rPr>
              <a:t>Small groups develop an activist thesis on a public company, with recommendations published each quarter.</a:t>
            </a:r>
            <a:endParaRPr lang="en-US" sz="1300" dirty="0"/>
          </a:p>
        </p:txBody>
      </p:sp>
      <p:sp>
        <p:nvSpPr>
          <p:cNvPr id="21" name="Shape 16"/>
          <p:cNvSpPr/>
          <p:nvPr/>
        </p:nvSpPr>
        <p:spPr>
          <a:xfrm>
            <a:off x="8983751" y="1965960"/>
            <a:ext cx="2476424" cy="3657600"/>
          </a:xfrm>
          <a:prstGeom prst="rect">
            <a:avLst/>
          </a:prstGeom>
          <a:solidFill>
            <a:srgbClr val="FFFFFF"/>
          </a:solidFill>
          <a:ln w="9525">
            <a:solidFill>
              <a:srgbClr val="E3DCDA"/>
            </a:solidFill>
            <a:prstDash val="solid"/>
          </a:ln>
        </p:spPr>
        <p:txBody>
          <a:bodyPr/>
          <a:lstStyle/>
          <a:p>
            <a:endParaRPr lang="en-US"/>
          </a:p>
        </p:txBody>
      </p:sp>
      <p:sp>
        <p:nvSpPr>
          <p:cNvPr id="22" name="Shape 17"/>
          <p:cNvSpPr/>
          <p:nvPr/>
        </p:nvSpPr>
        <p:spPr>
          <a:xfrm>
            <a:off x="8983751" y="1965960"/>
            <a:ext cx="2476424" cy="45720"/>
          </a:xfrm>
          <a:prstGeom prst="rect">
            <a:avLst/>
          </a:prstGeom>
          <a:solidFill>
            <a:srgbClr val="77080E"/>
          </a:solidFill>
          <a:ln w="12700">
            <a:solidFill>
              <a:srgbClr val="77080E"/>
            </a:solidFill>
            <a:prstDash val="solid"/>
          </a:ln>
        </p:spPr>
        <p:txBody>
          <a:bodyPr/>
          <a:lstStyle/>
          <a:p>
            <a:endParaRPr lang="en-US"/>
          </a:p>
        </p:txBody>
      </p:sp>
      <p:sp>
        <p:nvSpPr>
          <p:cNvPr id="23" name="Shape 18"/>
          <p:cNvSpPr/>
          <p:nvPr/>
        </p:nvSpPr>
        <p:spPr>
          <a:xfrm>
            <a:off x="9833343" y="2377440"/>
            <a:ext cx="777240" cy="777240"/>
          </a:xfrm>
          <a:prstGeom prst="ellipse">
            <a:avLst/>
          </a:prstGeom>
          <a:solidFill>
            <a:srgbClr val="77080E"/>
          </a:solidFill>
          <a:ln w="12700">
            <a:solidFill>
              <a:srgbClr val="77080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10029939" y="2574036"/>
            <a:ext cx="384048" cy="384048"/>
          </a:xfrm>
          <a:prstGeom prst="rect">
            <a:avLst/>
          </a:prstGeom>
        </p:spPr>
      </p:pic>
      <p:sp>
        <p:nvSpPr>
          <p:cNvPr id="25" name="Text 19"/>
          <p:cNvSpPr txBox="1"/>
          <p:nvPr/>
        </p:nvSpPr>
        <p:spPr>
          <a:xfrm>
            <a:off x="9212351" y="3383280"/>
            <a:ext cx="2019224" cy="685800"/>
          </a:xfrm>
          <a:prstGeom prst="rect">
            <a:avLst/>
          </a:prstGeom>
          <a:noFill/>
          <a:ln/>
        </p:spPr>
        <p:txBody>
          <a:bodyPr wrap="square" lIns="0" tIns="0" rIns="0" bIns="0" rtlCol="0" anchor="t"/>
          <a:lstStyle/>
          <a:p>
            <a:pPr marL="0" indent="0" algn="ctr">
              <a:buNone/>
            </a:pPr>
            <a:r>
              <a:rPr lang="en-US" sz="1800" dirty="0">
                <a:solidFill>
                  <a:srgbClr val="77080E"/>
                </a:solidFill>
                <a:latin typeface="EB Garamond" pitchFamily="34" charset="0"/>
                <a:ea typeface="EB Garamond" pitchFamily="34" charset="-122"/>
                <a:cs typeface="EB Garamond" pitchFamily="34" charset="-120"/>
              </a:rPr>
              <a:t>Recruiting Bootcamp</a:t>
            </a:r>
            <a:endParaRPr lang="en-US" sz="1800" dirty="0"/>
          </a:p>
        </p:txBody>
      </p:sp>
      <p:sp>
        <p:nvSpPr>
          <p:cNvPr id="26" name="Text 20"/>
          <p:cNvSpPr txBox="1"/>
          <p:nvPr/>
        </p:nvSpPr>
        <p:spPr>
          <a:xfrm>
            <a:off x="9258071" y="4114800"/>
            <a:ext cx="1927784" cy="1325880"/>
          </a:xfrm>
          <a:prstGeom prst="rect">
            <a:avLst/>
          </a:prstGeom>
          <a:noFill/>
          <a:ln/>
        </p:spPr>
        <p:txBody>
          <a:bodyPr wrap="square" lIns="0" tIns="0" rIns="0" bIns="0" rtlCol="0" anchor="t"/>
          <a:lstStyle/>
          <a:p>
            <a:pPr marL="0" indent="0" algn="ctr">
              <a:buNone/>
            </a:pPr>
            <a:r>
              <a:rPr lang="en-US" sz="1300" dirty="0">
                <a:solidFill>
                  <a:srgbClr val="1F1010"/>
                </a:solidFill>
                <a:latin typeface="EB Garamond" pitchFamily="34" charset="0"/>
                <a:ea typeface="EB Garamond" pitchFamily="34" charset="-122"/>
                <a:cs typeface="EB Garamond" pitchFamily="34" charset="-120"/>
              </a:rPr>
              <a:t>Accounting, valuation, modeling, and interview prep for banking, private equity, and finance, with mock interviews.</a:t>
            </a:r>
            <a:endParaRPr lang="en-US" sz="1300" dirty="0"/>
          </a:p>
        </p:txBody>
      </p:sp>
      <p:sp>
        <p:nvSpPr>
          <p:cNvPr id="27"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Leading activist investors</a:t>
            </a:r>
            <a:endParaRPr lang="en-US" sz="3400" dirty="0"/>
          </a:p>
        </p:txBody>
      </p:sp>
      <p:sp>
        <p:nvSpPr>
          <p:cNvPr id="3" name="Shape 1"/>
          <p:cNvSpPr/>
          <p:nvPr/>
        </p:nvSpPr>
        <p:spPr>
          <a:xfrm>
            <a:off x="731520" y="1920240"/>
            <a:ext cx="2476424" cy="1920240"/>
          </a:xfrm>
          <a:prstGeom prst="rect">
            <a:avLst/>
          </a:prstGeom>
          <a:solidFill>
            <a:srgbClr val="FFFFFF"/>
          </a:solidFill>
          <a:ln w="9525">
            <a:solidFill>
              <a:srgbClr val="E3DCDA"/>
            </a:solidFill>
            <a:prstDash val="solid"/>
          </a:ln>
        </p:spPr>
        <p:txBody>
          <a:bodyPr/>
          <a:lstStyle/>
          <a:p>
            <a:endParaRPr lang="en-US"/>
          </a:p>
        </p:txBody>
      </p:sp>
      <p:sp>
        <p:nvSpPr>
          <p:cNvPr id="4" name="Shape 2"/>
          <p:cNvSpPr/>
          <p:nvPr/>
        </p:nvSpPr>
        <p:spPr>
          <a:xfrm>
            <a:off x="731520" y="1920240"/>
            <a:ext cx="2476424" cy="45720"/>
          </a:xfrm>
          <a:prstGeom prst="rect">
            <a:avLst/>
          </a:prstGeom>
          <a:solidFill>
            <a:srgbClr val="77080E"/>
          </a:solidFill>
          <a:ln w="12700">
            <a:solidFill>
              <a:srgbClr val="77080E"/>
            </a:solidFill>
            <a:prstDash val="solid"/>
          </a:ln>
        </p:spPr>
        <p:txBody>
          <a:bodyPr/>
          <a:lstStyle/>
          <a:p>
            <a:endParaRPr lang="en-US"/>
          </a:p>
        </p:txBody>
      </p:sp>
      <p:pic>
        <p:nvPicPr>
          <p:cNvPr id="5" name="Image 0" descr="firms/elliott.png"/>
          <p:cNvPicPr>
            <a:picLocks noChangeAspect="1"/>
          </p:cNvPicPr>
          <p:nvPr/>
        </p:nvPicPr>
        <p:blipFill>
          <a:blip r:embed="rId3"/>
          <a:stretch>
            <a:fillRect/>
          </a:stretch>
        </p:blipFill>
        <p:spPr>
          <a:xfrm>
            <a:off x="1009612" y="2194560"/>
            <a:ext cx="1920240" cy="864108"/>
          </a:xfrm>
          <a:prstGeom prst="rect">
            <a:avLst/>
          </a:prstGeom>
        </p:spPr>
      </p:pic>
      <p:sp>
        <p:nvSpPr>
          <p:cNvPr id="6" name="Text 3"/>
          <p:cNvSpPr txBox="1"/>
          <p:nvPr/>
        </p:nvSpPr>
        <p:spPr>
          <a:xfrm>
            <a:off x="914400" y="324612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Paul Singer</a:t>
            </a:r>
            <a:endParaRPr lang="en-US" sz="1400" dirty="0"/>
          </a:p>
        </p:txBody>
      </p:sp>
      <p:sp>
        <p:nvSpPr>
          <p:cNvPr id="7" name="Shape 4"/>
          <p:cNvSpPr/>
          <p:nvPr/>
        </p:nvSpPr>
        <p:spPr>
          <a:xfrm>
            <a:off x="3482264" y="1920240"/>
            <a:ext cx="2476424" cy="1920240"/>
          </a:xfrm>
          <a:prstGeom prst="rect">
            <a:avLst/>
          </a:prstGeom>
          <a:solidFill>
            <a:srgbClr val="FFFFFF"/>
          </a:solidFill>
          <a:ln w="9525">
            <a:solidFill>
              <a:srgbClr val="E3DCDA"/>
            </a:solidFill>
            <a:prstDash val="solid"/>
          </a:ln>
        </p:spPr>
        <p:txBody>
          <a:bodyPr/>
          <a:lstStyle/>
          <a:p>
            <a:endParaRPr lang="en-US"/>
          </a:p>
        </p:txBody>
      </p:sp>
      <p:sp>
        <p:nvSpPr>
          <p:cNvPr id="8" name="Shape 5"/>
          <p:cNvSpPr/>
          <p:nvPr/>
        </p:nvSpPr>
        <p:spPr>
          <a:xfrm>
            <a:off x="3482264" y="1920240"/>
            <a:ext cx="2476424" cy="45720"/>
          </a:xfrm>
          <a:prstGeom prst="rect">
            <a:avLst/>
          </a:prstGeom>
          <a:solidFill>
            <a:srgbClr val="77080E"/>
          </a:solidFill>
          <a:ln w="12700">
            <a:solidFill>
              <a:srgbClr val="77080E"/>
            </a:solidFill>
            <a:prstDash val="solid"/>
          </a:ln>
        </p:spPr>
        <p:txBody>
          <a:bodyPr/>
          <a:lstStyle/>
          <a:p>
            <a:endParaRPr lang="en-US"/>
          </a:p>
        </p:txBody>
      </p:sp>
      <p:pic>
        <p:nvPicPr>
          <p:cNvPr id="9" name="Image 1" descr="firms/trian.png"/>
          <p:cNvPicPr>
            <a:picLocks noChangeAspect="1"/>
          </p:cNvPicPr>
          <p:nvPr/>
        </p:nvPicPr>
        <p:blipFill>
          <a:blip r:embed="rId4"/>
          <a:stretch>
            <a:fillRect/>
          </a:stretch>
        </p:blipFill>
        <p:spPr>
          <a:xfrm>
            <a:off x="3760356" y="2194560"/>
            <a:ext cx="1920240" cy="864108"/>
          </a:xfrm>
          <a:prstGeom prst="rect">
            <a:avLst/>
          </a:prstGeom>
        </p:spPr>
      </p:pic>
      <p:sp>
        <p:nvSpPr>
          <p:cNvPr id="10" name="Text 6"/>
          <p:cNvSpPr txBox="1"/>
          <p:nvPr/>
        </p:nvSpPr>
        <p:spPr>
          <a:xfrm>
            <a:off x="3665144" y="324612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Nelson Peltz and Peter May</a:t>
            </a:r>
            <a:endParaRPr lang="en-US" sz="1400" dirty="0"/>
          </a:p>
        </p:txBody>
      </p:sp>
      <p:sp>
        <p:nvSpPr>
          <p:cNvPr id="11" name="Shape 7"/>
          <p:cNvSpPr/>
          <p:nvPr/>
        </p:nvSpPr>
        <p:spPr>
          <a:xfrm>
            <a:off x="6233008" y="1920240"/>
            <a:ext cx="2476424" cy="1920240"/>
          </a:xfrm>
          <a:prstGeom prst="rect">
            <a:avLst/>
          </a:prstGeom>
          <a:solidFill>
            <a:srgbClr val="FFFFFF"/>
          </a:solidFill>
          <a:ln w="9525">
            <a:solidFill>
              <a:srgbClr val="E3DCDA"/>
            </a:solidFill>
            <a:prstDash val="solid"/>
          </a:ln>
        </p:spPr>
        <p:txBody>
          <a:bodyPr/>
          <a:lstStyle/>
          <a:p>
            <a:endParaRPr lang="en-US"/>
          </a:p>
        </p:txBody>
      </p:sp>
      <p:sp>
        <p:nvSpPr>
          <p:cNvPr id="12" name="Shape 8"/>
          <p:cNvSpPr/>
          <p:nvPr/>
        </p:nvSpPr>
        <p:spPr>
          <a:xfrm>
            <a:off x="6233008" y="1920240"/>
            <a:ext cx="2476424" cy="45720"/>
          </a:xfrm>
          <a:prstGeom prst="rect">
            <a:avLst/>
          </a:prstGeom>
          <a:solidFill>
            <a:srgbClr val="77080E"/>
          </a:solidFill>
          <a:ln w="12700">
            <a:solidFill>
              <a:srgbClr val="77080E"/>
            </a:solidFill>
            <a:prstDash val="solid"/>
          </a:ln>
        </p:spPr>
        <p:txBody>
          <a:bodyPr/>
          <a:lstStyle/>
          <a:p>
            <a:endParaRPr lang="en-US"/>
          </a:p>
        </p:txBody>
      </p:sp>
      <p:pic>
        <p:nvPicPr>
          <p:cNvPr id="13" name="Image 2" descr="firms/pershing.png"/>
          <p:cNvPicPr>
            <a:picLocks noChangeAspect="1"/>
          </p:cNvPicPr>
          <p:nvPr/>
        </p:nvPicPr>
        <p:blipFill>
          <a:blip r:embed="rId5"/>
          <a:stretch>
            <a:fillRect/>
          </a:stretch>
        </p:blipFill>
        <p:spPr>
          <a:xfrm>
            <a:off x="6511100" y="2194560"/>
            <a:ext cx="1920240" cy="864108"/>
          </a:xfrm>
          <a:prstGeom prst="rect">
            <a:avLst/>
          </a:prstGeom>
        </p:spPr>
      </p:pic>
      <p:sp>
        <p:nvSpPr>
          <p:cNvPr id="14" name="Text 9"/>
          <p:cNvSpPr txBox="1"/>
          <p:nvPr/>
        </p:nvSpPr>
        <p:spPr>
          <a:xfrm>
            <a:off x="6415888" y="324612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Bill Ackman</a:t>
            </a:r>
            <a:endParaRPr lang="en-US" sz="1400" dirty="0"/>
          </a:p>
        </p:txBody>
      </p:sp>
      <p:sp>
        <p:nvSpPr>
          <p:cNvPr id="15" name="Shape 10"/>
          <p:cNvSpPr/>
          <p:nvPr/>
        </p:nvSpPr>
        <p:spPr>
          <a:xfrm>
            <a:off x="8983751" y="1920240"/>
            <a:ext cx="2476424" cy="1920240"/>
          </a:xfrm>
          <a:prstGeom prst="rect">
            <a:avLst/>
          </a:prstGeom>
          <a:solidFill>
            <a:srgbClr val="FFFFFF"/>
          </a:solidFill>
          <a:ln w="9525">
            <a:solidFill>
              <a:srgbClr val="E3DCDA"/>
            </a:solidFill>
            <a:prstDash val="solid"/>
          </a:ln>
        </p:spPr>
        <p:txBody>
          <a:bodyPr/>
          <a:lstStyle/>
          <a:p>
            <a:endParaRPr lang="en-US"/>
          </a:p>
        </p:txBody>
      </p:sp>
      <p:sp>
        <p:nvSpPr>
          <p:cNvPr id="16" name="Shape 11"/>
          <p:cNvSpPr/>
          <p:nvPr/>
        </p:nvSpPr>
        <p:spPr>
          <a:xfrm>
            <a:off x="8983751" y="1920240"/>
            <a:ext cx="2476424" cy="45720"/>
          </a:xfrm>
          <a:prstGeom prst="rect">
            <a:avLst/>
          </a:prstGeom>
          <a:solidFill>
            <a:srgbClr val="77080E"/>
          </a:solidFill>
          <a:ln w="12700">
            <a:solidFill>
              <a:srgbClr val="77080E"/>
            </a:solidFill>
            <a:prstDash val="solid"/>
          </a:ln>
        </p:spPr>
        <p:txBody>
          <a:bodyPr/>
          <a:lstStyle/>
          <a:p>
            <a:endParaRPr lang="en-US"/>
          </a:p>
        </p:txBody>
      </p:sp>
      <p:pic>
        <p:nvPicPr>
          <p:cNvPr id="17" name="Image 3" descr="firms/starboard.png"/>
          <p:cNvPicPr>
            <a:picLocks noChangeAspect="1"/>
          </p:cNvPicPr>
          <p:nvPr/>
        </p:nvPicPr>
        <p:blipFill>
          <a:blip r:embed="rId6"/>
          <a:stretch>
            <a:fillRect/>
          </a:stretch>
        </p:blipFill>
        <p:spPr>
          <a:xfrm>
            <a:off x="9261843" y="2194560"/>
            <a:ext cx="1920240" cy="864108"/>
          </a:xfrm>
          <a:prstGeom prst="rect">
            <a:avLst/>
          </a:prstGeom>
        </p:spPr>
      </p:pic>
      <p:sp>
        <p:nvSpPr>
          <p:cNvPr id="18" name="Text 12"/>
          <p:cNvSpPr txBox="1"/>
          <p:nvPr/>
        </p:nvSpPr>
        <p:spPr>
          <a:xfrm>
            <a:off x="9166631" y="324612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Jeff Smith</a:t>
            </a:r>
            <a:endParaRPr lang="en-US" sz="1400" dirty="0"/>
          </a:p>
        </p:txBody>
      </p:sp>
      <p:sp>
        <p:nvSpPr>
          <p:cNvPr id="19" name="Shape 13"/>
          <p:cNvSpPr/>
          <p:nvPr/>
        </p:nvSpPr>
        <p:spPr>
          <a:xfrm>
            <a:off x="731520" y="4114800"/>
            <a:ext cx="2476424" cy="1920240"/>
          </a:xfrm>
          <a:prstGeom prst="rect">
            <a:avLst/>
          </a:prstGeom>
          <a:solidFill>
            <a:srgbClr val="FFFFFF"/>
          </a:solidFill>
          <a:ln w="9525">
            <a:solidFill>
              <a:srgbClr val="E3DCDA"/>
            </a:solidFill>
            <a:prstDash val="solid"/>
          </a:ln>
        </p:spPr>
        <p:txBody>
          <a:bodyPr/>
          <a:lstStyle/>
          <a:p>
            <a:endParaRPr lang="en-US"/>
          </a:p>
        </p:txBody>
      </p:sp>
      <p:sp>
        <p:nvSpPr>
          <p:cNvPr id="20" name="Shape 14"/>
          <p:cNvSpPr/>
          <p:nvPr/>
        </p:nvSpPr>
        <p:spPr>
          <a:xfrm>
            <a:off x="731520" y="4114800"/>
            <a:ext cx="2476424" cy="45720"/>
          </a:xfrm>
          <a:prstGeom prst="rect">
            <a:avLst/>
          </a:prstGeom>
          <a:solidFill>
            <a:srgbClr val="77080E"/>
          </a:solidFill>
          <a:ln w="12700">
            <a:solidFill>
              <a:srgbClr val="77080E"/>
            </a:solidFill>
            <a:prstDash val="solid"/>
          </a:ln>
        </p:spPr>
        <p:txBody>
          <a:bodyPr/>
          <a:lstStyle/>
          <a:p>
            <a:endParaRPr lang="en-US"/>
          </a:p>
        </p:txBody>
      </p:sp>
      <p:sp>
        <p:nvSpPr>
          <p:cNvPr id="21" name="Text 15"/>
          <p:cNvSpPr txBox="1"/>
          <p:nvPr/>
        </p:nvSpPr>
        <p:spPr>
          <a:xfrm>
            <a:off x="914400" y="4389120"/>
            <a:ext cx="2110664" cy="864108"/>
          </a:xfrm>
          <a:prstGeom prst="rect">
            <a:avLst/>
          </a:prstGeom>
          <a:noFill/>
          <a:ln/>
        </p:spPr>
        <p:txBody>
          <a:bodyPr wrap="square" lIns="0" tIns="0" rIns="0" bIns="0" rtlCol="0" anchor="ctr"/>
          <a:lstStyle/>
          <a:p>
            <a:pPr marL="0" indent="0" algn="ctr">
              <a:buNone/>
            </a:pPr>
            <a:r>
              <a:rPr lang="en-US" sz="2200" dirty="0">
                <a:solidFill>
                  <a:srgbClr val="3F5675"/>
                </a:solidFill>
                <a:latin typeface="EB Garamond" pitchFamily="34" charset="0"/>
                <a:ea typeface="EB Garamond" pitchFamily="34" charset="-122"/>
                <a:cs typeface="EB Garamond" pitchFamily="34" charset="-120"/>
              </a:rPr>
              <a:t>Icahn Enterprises</a:t>
            </a:r>
            <a:endParaRPr lang="en-US" sz="2200" dirty="0"/>
          </a:p>
        </p:txBody>
      </p:sp>
      <p:sp>
        <p:nvSpPr>
          <p:cNvPr id="22" name="Text 16"/>
          <p:cNvSpPr txBox="1"/>
          <p:nvPr/>
        </p:nvSpPr>
        <p:spPr>
          <a:xfrm>
            <a:off x="914400" y="544068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Carl Icahn</a:t>
            </a:r>
            <a:endParaRPr lang="en-US" sz="1400" dirty="0"/>
          </a:p>
        </p:txBody>
      </p:sp>
      <p:sp>
        <p:nvSpPr>
          <p:cNvPr id="23" name="Shape 17"/>
          <p:cNvSpPr/>
          <p:nvPr/>
        </p:nvSpPr>
        <p:spPr>
          <a:xfrm>
            <a:off x="3482264" y="4114800"/>
            <a:ext cx="2476424" cy="1920240"/>
          </a:xfrm>
          <a:prstGeom prst="rect">
            <a:avLst/>
          </a:prstGeom>
          <a:solidFill>
            <a:srgbClr val="FFFFFF"/>
          </a:solidFill>
          <a:ln w="9525">
            <a:solidFill>
              <a:srgbClr val="E3DCDA"/>
            </a:solidFill>
            <a:prstDash val="solid"/>
          </a:ln>
        </p:spPr>
        <p:txBody>
          <a:bodyPr/>
          <a:lstStyle/>
          <a:p>
            <a:endParaRPr lang="en-US"/>
          </a:p>
        </p:txBody>
      </p:sp>
      <p:sp>
        <p:nvSpPr>
          <p:cNvPr id="24" name="Shape 18"/>
          <p:cNvSpPr/>
          <p:nvPr/>
        </p:nvSpPr>
        <p:spPr>
          <a:xfrm>
            <a:off x="3482264" y="4114800"/>
            <a:ext cx="2476424" cy="45720"/>
          </a:xfrm>
          <a:prstGeom prst="rect">
            <a:avLst/>
          </a:prstGeom>
          <a:solidFill>
            <a:srgbClr val="77080E"/>
          </a:solidFill>
          <a:ln w="12700">
            <a:solidFill>
              <a:srgbClr val="77080E"/>
            </a:solidFill>
            <a:prstDash val="solid"/>
          </a:ln>
        </p:spPr>
        <p:txBody>
          <a:bodyPr/>
          <a:lstStyle/>
          <a:p>
            <a:endParaRPr lang="en-US"/>
          </a:p>
        </p:txBody>
      </p:sp>
      <p:pic>
        <p:nvPicPr>
          <p:cNvPr id="25" name="Image 4" descr="firms/thirdpoint.png"/>
          <p:cNvPicPr>
            <a:picLocks noChangeAspect="1"/>
          </p:cNvPicPr>
          <p:nvPr/>
        </p:nvPicPr>
        <p:blipFill>
          <a:blip r:embed="rId7"/>
          <a:stretch>
            <a:fillRect/>
          </a:stretch>
        </p:blipFill>
        <p:spPr>
          <a:xfrm>
            <a:off x="3760356" y="4389120"/>
            <a:ext cx="1920240" cy="864108"/>
          </a:xfrm>
          <a:prstGeom prst="rect">
            <a:avLst/>
          </a:prstGeom>
        </p:spPr>
      </p:pic>
      <p:sp>
        <p:nvSpPr>
          <p:cNvPr id="26" name="Text 19"/>
          <p:cNvSpPr txBox="1"/>
          <p:nvPr/>
        </p:nvSpPr>
        <p:spPr>
          <a:xfrm>
            <a:off x="3665144" y="544068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Dan Loeb</a:t>
            </a:r>
            <a:endParaRPr lang="en-US" sz="1400" dirty="0"/>
          </a:p>
        </p:txBody>
      </p:sp>
      <p:sp>
        <p:nvSpPr>
          <p:cNvPr id="27" name="Shape 20"/>
          <p:cNvSpPr/>
          <p:nvPr/>
        </p:nvSpPr>
        <p:spPr>
          <a:xfrm>
            <a:off x="6233008" y="4114800"/>
            <a:ext cx="2476424" cy="1920240"/>
          </a:xfrm>
          <a:prstGeom prst="rect">
            <a:avLst/>
          </a:prstGeom>
          <a:solidFill>
            <a:srgbClr val="FFFFFF"/>
          </a:solidFill>
          <a:ln w="9525">
            <a:solidFill>
              <a:srgbClr val="E3DCDA"/>
            </a:solidFill>
            <a:prstDash val="solid"/>
          </a:ln>
        </p:spPr>
        <p:txBody>
          <a:bodyPr/>
          <a:lstStyle/>
          <a:p>
            <a:endParaRPr lang="en-US"/>
          </a:p>
        </p:txBody>
      </p:sp>
      <p:sp>
        <p:nvSpPr>
          <p:cNvPr id="28" name="Shape 21"/>
          <p:cNvSpPr/>
          <p:nvPr/>
        </p:nvSpPr>
        <p:spPr>
          <a:xfrm>
            <a:off x="6233008" y="4114800"/>
            <a:ext cx="2476424" cy="45720"/>
          </a:xfrm>
          <a:prstGeom prst="rect">
            <a:avLst/>
          </a:prstGeom>
          <a:solidFill>
            <a:srgbClr val="77080E"/>
          </a:solidFill>
          <a:ln w="12700">
            <a:solidFill>
              <a:srgbClr val="77080E"/>
            </a:solidFill>
            <a:prstDash val="solid"/>
          </a:ln>
        </p:spPr>
        <p:txBody>
          <a:bodyPr/>
          <a:lstStyle/>
          <a:p>
            <a:endParaRPr lang="en-US"/>
          </a:p>
        </p:txBody>
      </p:sp>
      <p:pic>
        <p:nvPicPr>
          <p:cNvPr id="29" name="Image 5" descr="firms/valueact.png"/>
          <p:cNvPicPr>
            <a:picLocks noChangeAspect="1"/>
          </p:cNvPicPr>
          <p:nvPr/>
        </p:nvPicPr>
        <p:blipFill>
          <a:blip r:embed="rId8"/>
          <a:stretch>
            <a:fillRect/>
          </a:stretch>
        </p:blipFill>
        <p:spPr>
          <a:xfrm>
            <a:off x="6511100" y="4389120"/>
            <a:ext cx="1920240" cy="864108"/>
          </a:xfrm>
          <a:prstGeom prst="rect">
            <a:avLst/>
          </a:prstGeom>
        </p:spPr>
      </p:pic>
      <p:sp>
        <p:nvSpPr>
          <p:cNvPr id="30" name="Text 22"/>
          <p:cNvSpPr txBox="1"/>
          <p:nvPr/>
        </p:nvSpPr>
        <p:spPr>
          <a:xfrm>
            <a:off x="6415888" y="544068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Mason Morfit</a:t>
            </a:r>
            <a:endParaRPr lang="en-US" sz="1400" dirty="0"/>
          </a:p>
        </p:txBody>
      </p:sp>
      <p:sp>
        <p:nvSpPr>
          <p:cNvPr id="31" name="Shape 23"/>
          <p:cNvSpPr/>
          <p:nvPr/>
        </p:nvSpPr>
        <p:spPr>
          <a:xfrm>
            <a:off x="8983751" y="4114800"/>
            <a:ext cx="2476424" cy="1920240"/>
          </a:xfrm>
          <a:prstGeom prst="rect">
            <a:avLst/>
          </a:prstGeom>
          <a:solidFill>
            <a:srgbClr val="FFFFFF"/>
          </a:solidFill>
          <a:ln w="9525">
            <a:solidFill>
              <a:srgbClr val="E3DCDA"/>
            </a:solidFill>
            <a:prstDash val="solid"/>
          </a:ln>
        </p:spPr>
        <p:txBody>
          <a:bodyPr/>
          <a:lstStyle/>
          <a:p>
            <a:endParaRPr lang="en-US"/>
          </a:p>
        </p:txBody>
      </p:sp>
      <p:sp>
        <p:nvSpPr>
          <p:cNvPr id="32" name="Shape 24"/>
          <p:cNvSpPr/>
          <p:nvPr/>
        </p:nvSpPr>
        <p:spPr>
          <a:xfrm>
            <a:off x="8983751" y="4114800"/>
            <a:ext cx="2476424" cy="45720"/>
          </a:xfrm>
          <a:prstGeom prst="rect">
            <a:avLst/>
          </a:prstGeom>
          <a:solidFill>
            <a:srgbClr val="77080E"/>
          </a:solidFill>
          <a:ln w="12700">
            <a:solidFill>
              <a:srgbClr val="77080E"/>
            </a:solidFill>
            <a:prstDash val="solid"/>
          </a:ln>
        </p:spPr>
        <p:txBody>
          <a:bodyPr/>
          <a:lstStyle/>
          <a:p>
            <a:endParaRPr lang="en-US"/>
          </a:p>
        </p:txBody>
      </p:sp>
      <p:pic>
        <p:nvPicPr>
          <p:cNvPr id="33" name="Image 6" descr="firms/jana.png"/>
          <p:cNvPicPr>
            <a:picLocks noChangeAspect="1"/>
          </p:cNvPicPr>
          <p:nvPr/>
        </p:nvPicPr>
        <p:blipFill>
          <a:blip r:embed="rId9"/>
          <a:stretch>
            <a:fillRect/>
          </a:stretch>
        </p:blipFill>
        <p:spPr>
          <a:xfrm>
            <a:off x="9261843" y="4389120"/>
            <a:ext cx="1920240" cy="864108"/>
          </a:xfrm>
          <a:prstGeom prst="rect">
            <a:avLst/>
          </a:prstGeom>
        </p:spPr>
      </p:pic>
      <p:sp>
        <p:nvSpPr>
          <p:cNvPr id="34" name="Text 25"/>
          <p:cNvSpPr txBox="1"/>
          <p:nvPr/>
        </p:nvSpPr>
        <p:spPr>
          <a:xfrm>
            <a:off x="9166631" y="5440680"/>
            <a:ext cx="2110664" cy="320040"/>
          </a:xfrm>
          <a:prstGeom prst="rect">
            <a:avLst/>
          </a:prstGeom>
          <a:noFill/>
          <a:ln/>
        </p:spPr>
        <p:txBody>
          <a:bodyPr wrap="square" lIns="0" tIns="0" rIns="0" bIns="0" rtlCol="0" anchor="ctr"/>
          <a:lstStyle/>
          <a:p>
            <a:pPr marL="0" indent="0" algn="ctr">
              <a:buNone/>
            </a:pPr>
            <a:r>
              <a:rPr lang="en-US" sz="1400" dirty="0">
                <a:solidFill>
                  <a:srgbClr val="1F1010"/>
                </a:solidFill>
                <a:latin typeface="EB Garamond" pitchFamily="34" charset="0"/>
                <a:ea typeface="EB Garamond" pitchFamily="34" charset="-122"/>
                <a:cs typeface="EB Garamond" pitchFamily="34" charset="-120"/>
              </a:rPr>
              <a:t>Barry Rosenstein</a:t>
            </a:r>
            <a:endParaRPr lang="en-US" sz="1400" dirty="0"/>
          </a:p>
        </p:txBody>
      </p:sp>
      <p:sp>
        <p:nvSpPr>
          <p:cNvPr id="35"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Key dates</a:t>
            </a:r>
            <a:endParaRPr lang="en-US" sz="3400" dirty="0"/>
          </a:p>
        </p:txBody>
      </p:sp>
      <p:sp>
        <p:nvSpPr>
          <p:cNvPr id="3" name="Shape 1"/>
          <p:cNvSpPr/>
          <p:nvPr/>
        </p:nvSpPr>
        <p:spPr>
          <a:xfrm>
            <a:off x="731520" y="2103120"/>
            <a:ext cx="2476424" cy="2743200"/>
          </a:xfrm>
          <a:prstGeom prst="rect">
            <a:avLst/>
          </a:prstGeom>
          <a:solidFill>
            <a:srgbClr val="FFFFFF"/>
          </a:solidFill>
          <a:ln w="9525">
            <a:solidFill>
              <a:srgbClr val="E3DCDA"/>
            </a:solidFill>
            <a:prstDash val="solid"/>
          </a:ln>
        </p:spPr>
        <p:txBody>
          <a:bodyPr/>
          <a:lstStyle/>
          <a:p>
            <a:endParaRPr lang="en-US"/>
          </a:p>
        </p:txBody>
      </p:sp>
      <p:sp>
        <p:nvSpPr>
          <p:cNvPr id="4" name="Shape 2"/>
          <p:cNvSpPr/>
          <p:nvPr/>
        </p:nvSpPr>
        <p:spPr>
          <a:xfrm>
            <a:off x="731520" y="2103120"/>
            <a:ext cx="2476424" cy="45720"/>
          </a:xfrm>
          <a:prstGeom prst="rect">
            <a:avLst/>
          </a:prstGeom>
          <a:solidFill>
            <a:srgbClr val="77080E"/>
          </a:solidFill>
          <a:ln w="12700">
            <a:solidFill>
              <a:srgbClr val="77080E"/>
            </a:solidFill>
            <a:prstDash val="solid"/>
          </a:ln>
        </p:spPr>
        <p:txBody>
          <a:bodyPr/>
          <a:lstStyle/>
          <a:p>
            <a:endParaRPr lang="en-US"/>
          </a:p>
        </p:txBody>
      </p:sp>
      <p:sp>
        <p:nvSpPr>
          <p:cNvPr id="5" name="Text 3"/>
          <p:cNvSpPr txBox="1"/>
          <p:nvPr/>
        </p:nvSpPr>
        <p:spPr>
          <a:xfrm>
            <a:off x="1005840" y="2468880"/>
            <a:ext cx="1927784" cy="685800"/>
          </a:xfrm>
          <a:prstGeom prst="rect">
            <a:avLst/>
          </a:prstGeom>
          <a:noFill/>
          <a:ln/>
        </p:spPr>
        <p:txBody>
          <a:bodyPr wrap="square" lIns="0" tIns="0" rIns="0" bIns="0" rtlCol="0" anchor="ctr"/>
          <a:lstStyle/>
          <a:p>
            <a:pPr marL="0" indent="0">
              <a:buNone/>
            </a:pPr>
            <a:r>
              <a:rPr lang="en-US" sz="4000" dirty="0">
                <a:solidFill>
                  <a:srgbClr val="77080E"/>
                </a:solidFill>
                <a:latin typeface="EB Garamond" pitchFamily="34" charset="0"/>
                <a:ea typeface="EB Garamond" pitchFamily="34" charset="-122"/>
                <a:cs typeface="EB Garamond" pitchFamily="34" charset="-120"/>
              </a:rPr>
              <a:t>Sep 28</a:t>
            </a:r>
            <a:endParaRPr lang="en-US" sz="4000" dirty="0"/>
          </a:p>
        </p:txBody>
      </p:sp>
      <p:sp>
        <p:nvSpPr>
          <p:cNvPr id="6" name="Text 4"/>
          <p:cNvSpPr txBox="1"/>
          <p:nvPr/>
        </p:nvSpPr>
        <p:spPr>
          <a:xfrm>
            <a:off x="1005840" y="3200400"/>
            <a:ext cx="1927784" cy="320040"/>
          </a:xfrm>
          <a:prstGeom prst="rect">
            <a:avLst/>
          </a:prstGeom>
          <a:noFill/>
          <a:ln/>
        </p:spPr>
        <p:txBody>
          <a:bodyPr wrap="square" lIns="0" tIns="0" rIns="0" bIns="0" rtlCol="0" anchor="ctr"/>
          <a:lstStyle/>
          <a:p>
            <a:pPr marL="0" indent="0">
              <a:buNone/>
            </a:pPr>
            <a:r>
              <a:rPr lang="en-US" sz="1400" dirty="0">
                <a:solidFill>
                  <a:srgbClr val="3A2A2A"/>
                </a:solidFill>
                <a:latin typeface="EB Garamond" pitchFamily="34" charset="0"/>
                <a:ea typeface="EB Garamond" pitchFamily="34" charset="-122"/>
                <a:cs typeface="EB Garamond" pitchFamily="34" charset="-120"/>
              </a:rPr>
              <a:t>Monday</a:t>
            </a:r>
            <a:endParaRPr lang="en-US" sz="1400" dirty="0"/>
          </a:p>
        </p:txBody>
      </p:sp>
      <p:sp>
        <p:nvSpPr>
          <p:cNvPr id="7" name="Text 5"/>
          <p:cNvSpPr txBox="1"/>
          <p:nvPr/>
        </p:nvSpPr>
        <p:spPr>
          <a:xfrm>
            <a:off x="1005840" y="3840480"/>
            <a:ext cx="1927784" cy="365760"/>
          </a:xfrm>
          <a:prstGeom prst="rect">
            <a:avLst/>
          </a:prstGeom>
          <a:noFill/>
          <a:ln/>
        </p:spPr>
        <p:txBody>
          <a:bodyPr wrap="square" lIns="0" tIns="0" rIns="0" bIns="0" rtlCol="0" anchor="ctr"/>
          <a:lstStyle/>
          <a:p>
            <a:pPr marL="0" indent="0">
              <a:buNone/>
            </a:pPr>
            <a:r>
              <a:rPr lang="en-US" sz="1800" dirty="0">
                <a:solidFill>
                  <a:srgbClr val="1F1010"/>
                </a:solidFill>
                <a:latin typeface="EB Garamond" pitchFamily="34" charset="0"/>
                <a:ea typeface="EB Garamond" pitchFamily="34" charset="-122"/>
                <a:cs typeface="EB Garamond" pitchFamily="34" charset="-120"/>
              </a:rPr>
              <a:t>Applications Open</a:t>
            </a:r>
            <a:endParaRPr lang="en-US" sz="1800" dirty="0"/>
          </a:p>
        </p:txBody>
      </p:sp>
      <p:sp>
        <p:nvSpPr>
          <p:cNvPr id="8" name="Text 6"/>
          <p:cNvSpPr txBox="1"/>
          <p:nvPr/>
        </p:nvSpPr>
        <p:spPr>
          <a:xfrm>
            <a:off x="1005840" y="4297680"/>
            <a:ext cx="1927784" cy="320040"/>
          </a:xfrm>
          <a:prstGeom prst="rect">
            <a:avLst/>
          </a:prstGeom>
          <a:noFill/>
          <a:ln/>
        </p:spPr>
        <p:txBody>
          <a:bodyPr wrap="square" lIns="0" tIns="0" rIns="0" bIns="0" rtlCol="0" anchor="ctr"/>
          <a:lstStyle/>
          <a:p>
            <a:pPr marL="0" indent="0">
              <a:buNone/>
            </a:pPr>
            <a:r>
              <a:rPr lang="en-US" sz="1300" dirty="0">
                <a:solidFill>
                  <a:srgbClr val="1F1010"/>
                </a:solidFill>
                <a:latin typeface="EB Garamond" pitchFamily="34" charset="0"/>
                <a:ea typeface="EB Garamond" pitchFamily="34" charset="-122"/>
                <a:cs typeface="EB Garamond" pitchFamily="34" charset="-120"/>
              </a:rPr>
              <a:t>On our website</a:t>
            </a:r>
            <a:endParaRPr lang="en-US" sz="1300" dirty="0"/>
          </a:p>
        </p:txBody>
      </p:sp>
      <p:sp>
        <p:nvSpPr>
          <p:cNvPr id="9" name="Shape 7"/>
          <p:cNvSpPr/>
          <p:nvPr/>
        </p:nvSpPr>
        <p:spPr>
          <a:xfrm>
            <a:off x="3482264" y="2103120"/>
            <a:ext cx="2476424" cy="2743200"/>
          </a:xfrm>
          <a:prstGeom prst="rect">
            <a:avLst/>
          </a:prstGeom>
          <a:solidFill>
            <a:srgbClr val="FFFFFF"/>
          </a:solidFill>
          <a:ln w="9525">
            <a:solidFill>
              <a:srgbClr val="E3DCDA"/>
            </a:solidFill>
            <a:prstDash val="solid"/>
          </a:ln>
        </p:spPr>
        <p:txBody>
          <a:bodyPr/>
          <a:lstStyle/>
          <a:p>
            <a:endParaRPr lang="en-US"/>
          </a:p>
        </p:txBody>
      </p:sp>
      <p:sp>
        <p:nvSpPr>
          <p:cNvPr id="10" name="Shape 8"/>
          <p:cNvSpPr/>
          <p:nvPr/>
        </p:nvSpPr>
        <p:spPr>
          <a:xfrm>
            <a:off x="3482264" y="2103120"/>
            <a:ext cx="2476424" cy="45720"/>
          </a:xfrm>
          <a:prstGeom prst="rect">
            <a:avLst/>
          </a:prstGeom>
          <a:solidFill>
            <a:srgbClr val="77080E"/>
          </a:solidFill>
          <a:ln w="12700">
            <a:solidFill>
              <a:srgbClr val="77080E"/>
            </a:solidFill>
            <a:prstDash val="solid"/>
          </a:ln>
        </p:spPr>
        <p:txBody>
          <a:bodyPr/>
          <a:lstStyle/>
          <a:p>
            <a:endParaRPr lang="en-US"/>
          </a:p>
        </p:txBody>
      </p:sp>
      <p:sp>
        <p:nvSpPr>
          <p:cNvPr id="11" name="Text 9"/>
          <p:cNvSpPr txBox="1"/>
          <p:nvPr/>
        </p:nvSpPr>
        <p:spPr>
          <a:xfrm>
            <a:off x="3756584" y="2468880"/>
            <a:ext cx="1927784" cy="685800"/>
          </a:xfrm>
          <a:prstGeom prst="rect">
            <a:avLst/>
          </a:prstGeom>
          <a:noFill/>
          <a:ln/>
        </p:spPr>
        <p:txBody>
          <a:bodyPr wrap="square" lIns="0" tIns="0" rIns="0" bIns="0" rtlCol="0" anchor="ctr"/>
          <a:lstStyle/>
          <a:p>
            <a:pPr marL="0" indent="0">
              <a:buNone/>
            </a:pPr>
            <a:r>
              <a:rPr lang="en-US" sz="4000" dirty="0">
                <a:solidFill>
                  <a:srgbClr val="77080E"/>
                </a:solidFill>
                <a:latin typeface="EB Garamond" pitchFamily="34" charset="0"/>
                <a:ea typeface="EB Garamond" pitchFamily="34" charset="-122"/>
                <a:cs typeface="EB Garamond" pitchFamily="34" charset="-120"/>
              </a:rPr>
              <a:t>Oct 4</a:t>
            </a:r>
            <a:endParaRPr lang="en-US" sz="4000" dirty="0"/>
          </a:p>
        </p:txBody>
      </p:sp>
      <p:sp>
        <p:nvSpPr>
          <p:cNvPr id="12" name="Text 10"/>
          <p:cNvSpPr txBox="1"/>
          <p:nvPr/>
        </p:nvSpPr>
        <p:spPr>
          <a:xfrm>
            <a:off x="3756584" y="3200400"/>
            <a:ext cx="1927784" cy="320040"/>
          </a:xfrm>
          <a:prstGeom prst="rect">
            <a:avLst/>
          </a:prstGeom>
          <a:noFill/>
          <a:ln/>
        </p:spPr>
        <p:txBody>
          <a:bodyPr wrap="square" lIns="0" tIns="0" rIns="0" bIns="0" rtlCol="0" anchor="ctr"/>
          <a:lstStyle/>
          <a:p>
            <a:pPr marL="0" indent="0">
              <a:buNone/>
            </a:pPr>
            <a:r>
              <a:rPr lang="en-US" sz="1400" dirty="0">
                <a:solidFill>
                  <a:srgbClr val="3A2A2A"/>
                </a:solidFill>
                <a:latin typeface="EB Garamond" pitchFamily="34" charset="0"/>
                <a:ea typeface="EB Garamond" pitchFamily="34" charset="-122"/>
                <a:cs typeface="EB Garamond" pitchFamily="34" charset="-120"/>
              </a:rPr>
              <a:t>Sunday</a:t>
            </a:r>
            <a:endParaRPr lang="en-US" sz="1400" dirty="0"/>
          </a:p>
        </p:txBody>
      </p:sp>
      <p:sp>
        <p:nvSpPr>
          <p:cNvPr id="13" name="Text 11"/>
          <p:cNvSpPr txBox="1"/>
          <p:nvPr/>
        </p:nvSpPr>
        <p:spPr>
          <a:xfrm>
            <a:off x="3756584" y="3840480"/>
            <a:ext cx="1927784" cy="365760"/>
          </a:xfrm>
          <a:prstGeom prst="rect">
            <a:avLst/>
          </a:prstGeom>
          <a:noFill/>
          <a:ln/>
        </p:spPr>
        <p:txBody>
          <a:bodyPr wrap="square" lIns="0" tIns="0" rIns="0" bIns="0" rtlCol="0" anchor="ctr"/>
          <a:lstStyle/>
          <a:p>
            <a:pPr marL="0" indent="0">
              <a:buNone/>
            </a:pPr>
            <a:r>
              <a:rPr lang="en-US" sz="1800" dirty="0">
                <a:solidFill>
                  <a:srgbClr val="1F1010"/>
                </a:solidFill>
                <a:latin typeface="EB Garamond" pitchFamily="34" charset="0"/>
                <a:ea typeface="EB Garamond" pitchFamily="34" charset="-122"/>
                <a:cs typeface="EB Garamond" pitchFamily="34" charset="-120"/>
              </a:rPr>
              <a:t>Info Session</a:t>
            </a:r>
            <a:endParaRPr lang="en-US" sz="1800" dirty="0"/>
          </a:p>
        </p:txBody>
      </p:sp>
      <p:sp>
        <p:nvSpPr>
          <p:cNvPr id="14" name="Text 12"/>
          <p:cNvSpPr txBox="1"/>
          <p:nvPr/>
        </p:nvSpPr>
        <p:spPr>
          <a:xfrm>
            <a:off x="3756584" y="4297680"/>
            <a:ext cx="1927784" cy="320040"/>
          </a:xfrm>
          <a:prstGeom prst="rect">
            <a:avLst/>
          </a:prstGeom>
          <a:noFill/>
          <a:ln/>
        </p:spPr>
        <p:txBody>
          <a:bodyPr wrap="square" lIns="0" tIns="0" rIns="0" bIns="0" rtlCol="0" anchor="ctr"/>
          <a:lstStyle/>
          <a:p>
            <a:pPr marL="0" indent="0">
              <a:buNone/>
            </a:pPr>
            <a:r>
              <a:rPr lang="en-US" sz="1300" dirty="0">
                <a:solidFill>
                  <a:srgbClr val="1F1010"/>
                </a:solidFill>
                <a:latin typeface="EB Garamond" pitchFamily="34" charset="0"/>
                <a:ea typeface="EB Garamond" pitchFamily="34" charset="-122"/>
                <a:cs typeface="EB Garamond" pitchFamily="34" charset="-120"/>
              </a:rPr>
              <a:t>4:00 PM CT on Zoom</a:t>
            </a:r>
            <a:endParaRPr lang="en-US" sz="1300" dirty="0"/>
          </a:p>
        </p:txBody>
      </p:sp>
      <p:sp>
        <p:nvSpPr>
          <p:cNvPr id="15" name="Shape 13"/>
          <p:cNvSpPr/>
          <p:nvPr/>
        </p:nvSpPr>
        <p:spPr>
          <a:xfrm>
            <a:off x="6233008" y="2103120"/>
            <a:ext cx="2476424" cy="2743200"/>
          </a:xfrm>
          <a:prstGeom prst="rect">
            <a:avLst/>
          </a:prstGeom>
          <a:solidFill>
            <a:srgbClr val="FFFFFF"/>
          </a:solidFill>
          <a:ln w="9525">
            <a:solidFill>
              <a:srgbClr val="E3DCDA"/>
            </a:solidFill>
            <a:prstDash val="solid"/>
          </a:ln>
        </p:spPr>
        <p:txBody>
          <a:bodyPr/>
          <a:lstStyle/>
          <a:p>
            <a:endParaRPr lang="en-US"/>
          </a:p>
        </p:txBody>
      </p:sp>
      <p:sp>
        <p:nvSpPr>
          <p:cNvPr id="16" name="Shape 14"/>
          <p:cNvSpPr/>
          <p:nvPr/>
        </p:nvSpPr>
        <p:spPr>
          <a:xfrm>
            <a:off x="6233008" y="2103120"/>
            <a:ext cx="2476424" cy="45720"/>
          </a:xfrm>
          <a:prstGeom prst="rect">
            <a:avLst/>
          </a:prstGeom>
          <a:solidFill>
            <a:srgbClr val="77080E"/>
          </a:solidFill>
          <a:ln w="12700">
            <a:solidFill>
              <a:srgbClr val="77080E"/>
            </a:solidFill>
            <a:prstDash val="solid"/>
          </a:ln>
        </p:spPr>
        <p:txBody>
          <a:bodyPr/>
          <a:lstStyle/>
          <a:p>
            <a:endParaRPr lang="en-US"/>
          </a:p>
        </p:txBody>
      </p:sp>
      <p:sp>
        <p:nvSpPr>
          <p:cNvPr id="17" name="Text 15"/>
          <p:cNvSpPr txBox="1"/>
          <p:nvPr/>
        </p:nvSpPr>
        <p:spPr>
          <a:xfrm>
            <a:off x="6507328" y="2468880"/>
            <a:ext cx="1927784" cy="685800"/>
          </a:xfrm>
          <a:prstGeom prst="rect">
            <a:avLst/>
          </a:prstGeom>
          <a:noFill/>
          <a:ln/>
        </p:spPr>
        <p:txBody>
          <a:bodyPr wrap="square" lIns="0" tIns="0" rIns="0" bIns="0" rtlCol="0" anchor="ctr"/>
          <a:lstStyle/>
          <a:p>
            <a:pPr marL="0" indent="0">
              <a:buNone/>
            </a:pPr>
            <a:r>
              <a:rPr lang="en-US" sz="4000" dirty="0">
                <a:solidFill>
                  <a:srgbClr val="77080E"/>
                </a:solidFill>
                <a:latin typeface="EB Garamond" pitchFamily="34" charset="0"/>
                <a:ea typeface="EB Garamond" pitchFamily="34" charset="-122"/>
                <a:cs typeface="EB Garamond" pitchFamily="34" charset="-120"/>
              </a:rPr>
              <a:t>Oct 9</a:t>
            </a:r>
            <a:endParaRPr lang="en-US" sz="4000" dirty="0"/>
          </a:p>
        </p:txBody>
      </p:sp>
      <p:sp>
        <p:nvSpPr>
          <p:cNvPr id="18" name="Text 16"/>
          <p:cNvSpPr txBox="1"/>
          <p:nvPr/>
        </p:nvSpPr>
        <p:spPr>
          <a:xfrm>
            <a:off x="6507328" y="3200400"/>
            <a:ext cx="1927784" cy="320040"/>
          </a:xfrm>
          <a:prstGeom prst="rect">
            <a:avLst/>
          </a:prstGeom>
          <a:noFill/>
          <a:ln/>
        </p:spPr>
        <p:txBody>
          <a:bodyPr wrap="square" lIns="0" tIns="0" rIns="0" bIns="0" rtlCol="0" anchor="ctr"/>
          <a:lstStyle/>
          <a:p>
            <a:pPr marL="0" indent="0">
              <a:buNone/>
            </a:pPr>
            <a:r>
              <a:rPr lang="en-US" sz="1400" dirty="0">
                <a:solidFill>
                  <a:srgbClr val="3A2A2A"/>
                </a:solidFill>
                <a:latin typeface="EB Garamond" pitchFamily="34" charset="0"/>
                <a:ea typeface="EB Garamond" pitchFamily="34" charset="-122"/>
                <a:cs typeface="EB Garamond" pitchFamily="34" charset="-120"/>
              </a:rPr>
              <a:t>Friday</a:t>
            </a:r>
            <a:endParaRPr lang="en-US" sz="1400" dirty="0"/>
          </a:p>
        </p:txBody>
      </p:sp>
      <p:sp>
        <p:nvSpPr>
          <p:cNvPr id="19" name="Text 17"/>
          <p:cNvSpPr txBox="1"/>
          <p:nvPr/>
        </p:nvSpPr>
        <p:spPr>
          <a:xfrm>
            <a:off x="6507328" y="3840480"/>
            <a:ext cx="1927784" cy="365760"/>
          </a:xfrm>
          <a:prstGeom prst="rect">
            <a:avLst/>
          </a:prstGeom>
          <a:noFill/>
          <a:ln/>
        </p:spPr>
        <p:txBody>
          <a:bodyPr wrap="square" lIns="0" tIns="0" rIns="0" bIns="0" rtlCol="0" anchor="ctr"/>
          <a:lstStyle/>
          <a:p>
            <a:pPr marL="0" indent="0">
              <a:buNone/>
            </a:pPr>
            <a:r>
              <a:rPr lang="en-US" sz="1800" dirty="0">
                <a:solidFill>
                  <a:srgbClr val="1F1010"/>
                </a:solidFill>
                <a:latin typeface="EB Garamond" pitchFamily="34" charset="0"/>
                <a:ea typeface="EB Garamond" pitchFamily="34" charset="-122"/>
                <a:cs typeface="EB Garamond" pitchFamily="34" charset="-120"/>
              </a:rPr>
              <a:t>Applications Close</a:t>
            </a:r>
            <a:endParaRPr lang="en-US" sz="1800" dirty="0"/>
          </a:p>
        </p:txBody>
      </p:sp>
      <p:sp>
        <p:nvSpPr>
          <p:cNvPr id="20" name="Text 18"/>
          <p:cNvSpPr txBox="1"/>
          <p:nvPr/>
        </p:nvSpPr>
        <p:spPr>
          <a:xfrm>
            <a:off x="6507328" y="4297680"/>
            <a:ext cx="1927784" cy="320040"/>
          </a:xfrm>
          <a:prstGeom prst="rect">
            <a:avLst/>
          </a:prstGeom>
          <a:noFill/>
          <a:ln/>
        </p:spPr>
        <p:txBody>
          <a:bodyPr wrap="square" lIns="0" tIns="0" rIns="0" bIns="0" rtlCol="0" anchor="ctr"/>
          <a:lstStyle/>
          <a:p>
            <a:pPr marL="0" indent="0">
              <a:buNone/>
            </a:pPr>
            <a:r>
              <a:rPr lang="en-US" sz="1300" dirty="0">
                <a:solidFill>
                  <a:srgbClr val="1F1010"/>
                </a:solidFill>
                <a:latin typeface="EB Garamond" pitchFamily="34" charset="0"/>
                <a:ea typeface="EB Garamond" pitchFamily="34" charset="-122"/>
                <a:cs typeface="EB Garamond" pitchFamily="34" charset="-120"/>
              </a:rPr>
              <a:t>11:59 PM CT</a:t>
            </a:r>
            <a:endParaRPr lang="en-US" sz="1300" dirty="0"/>
          </a:p>
        </p:txBody>
      </p:sp>
      <p:sp>
        <p:nvSpPr>
          <p:cNvPr id="21" name="Shape 19"/>
          <p:cNvSpPr/>
          <p:nvPr/>
        </p:nvSpPr>
        <p:spPr>
          <a:xfrm>
            <a:off x="8983751" y="2103120"/>
            <a:ext cx="2476424" cy="2743200"/>
          </a:xfrm>
          <a:prstGeom prst="rect">
            <a:avLst/>
          </a:prstGeom>
          <a:solidFill>
            <a:srgbClr val="FFFFFF"/>
          </a:solidFill>
          <a:ln w="9525">
            <a:solidFill>
              <a:srgbClr val="E3DCDA"/>
            </a:solidFill>
            <a:prstDash val="solid"/>
          </a:ln>
        </p:spPr>
        <p:txBody>
          <a:bodyPr/>
          <a:lstStyle/>
          <a:p>
            <a:endParaRPr lang="en-US"/>
          </a:p>
        </p:txBody>
      </p:sp>
      <p:sp>
        <p:nvSpPr>
          <p:cNvPr id="22" name="Shape 20"/>
          <p:cNvSpPr/>
          <p:nvPr/>
        </p:nvSpPr>
        <p:spPr>
          <a:xfrm>
            <a:off x="8983751" y="2103120"/>
            <a:ext cx="2476424" cy="45720"/>
          </a:xfrm>
          <a:prstGeom prst="rect">
            <a:avLst/>
          </a:prstGeom>
          <a:solidFill>
            <a:srgbClr val="77080E"/>
          </a:solidFill>
          <a:ln w="12700">
            <a:solidFill>
              <a:srgbClr val="77080E"/>
            </a:solidFill>
            <a:prstDash val="solid"/>
          </a:ln>
        </p:spPr>
        <p:txBody>
          <a:bodyPr/>
          <a:lstStyle/>
          <a:p>
            <a:endParaRPr lang="en-US"/>
          </a:p>
        </p:txBody>
      </p:sp>
      <p:sp>
        <p:nvSpPr>
          <p:cNvPr id="23" name="Text 21"/>
          <p:cNvSpPr txBox="1"/>
          <p:nvPr/>
        </p:nvSpPr>
        <p:spPr>
          <a:xfrm>
            <a:off x="9258071" y="2468880"/>
            <a:ext cx="1927784" cy="685800"/>
          </a:xfrm>
          <a:prstGeom prst="rect">
            <a:avLst/>
          </a:prstGeom>
          <a:noFill/>
          <a:ln/>
        </p:spPr>
        <p:txBody>
          <a:bodyPr wrap="square" lIns="0" tIns="0" rIns="0" bIns="0" rtlCol="0" anchor="ctr"/>
          <a:lstStyle/>
          <a:p>
            <a:pPr marL="0" indent="0">
              <a:buNone/>
            </a:pPr>
            <a:r>
              <a:rPr lang="en-US" sz="4000" dirty="0">
                <a:solidFill>
                  <a:srgbClr val="77080E"/>
                </a:solidFill>
                <a:latin typeface="EB Garamond" pitchFamily="34" charset="0"/>
                <a:ea typeface="EB Garamond" pitchFamily="34" charset="-122"/>
                <a:cs typeface="EB Garamond" pitchFamily="34" charset="-120"/>
              </a:rPr>
              <a:t>Nov 5</a:t>
            </a:r>
            <a:endParaRPr lang="en-US" sz="4000" dirty="0"/>
          </a:p>
        </p:txBody>
      </p:sp>
      <p:sp>
        <p:nvSpPr>
          <p:cNvPr id="24" name="Text 22"/>
          <p:cNvSpPr txBox="1"/>
          <p:nvPr/>
        </p:nvSpPr>
        <p:spPr>
          <a:xfrm>
            <a:off x="9258071" y="3200400"/>
            <a:ext cx="1927784" cy="320040"/>
          </a:xfrm>
          <a:prstGeom prst="rect">
            <a:avLst/>
          </a:prstGeom>
          <a:noFill/>
          <a:ln/>
        </p:spPr>
        <p:txBody>
          <a:bodyPr wrap="square" lIns="0" tIns="0" rIns="0" bIns="0" rtlCol="0" anchor="ctr"/>
          <a:lstStyle/>
          <a:p>
            <a:pPr marL="0" indent="0">
              <a:buNone/>
            </a:pPr>
            <a:r>
              <a:rPr lang="en-US" sz="1400" dirty="0">
                <a:solidFill>
                  <a:srgbClr val="3A2A2A"/>
                </a:solidFill>
                <a:latin typeface="EB Garamond" pitchFamily="34" charset="0"/>
                <a:ea typeface="EB Garamond" pitchFamily="34" charset="-122"/>
                <a:cs typeface="EB Garamond" pitchFamily="34" charset="-120"/>
              </a:rPr>
              <a:t>Thursday</a:t>
            </a:r>
            <a:endParaRPr lang="en-US" sz="1400" dirty="0"/>
          </a:p>
        </p:txBody>
      </p:sp>
      <p:sp>
        <p:nvSpPr>
          <p:cNvPr id="25" name="Text 23"/>
          <p:cNvSpPr txBox="1"/>
          <p:nvPr/>
        </p:nvSpPr>
        <p:spPr>
          <a:xfrm>
            <a:off x="9258071" y="3840480"/>
            <a:ext cx="1927784" cy="365760"/>
          </a:xfrm>
          <a:prstGeom prst="rect">
            <a:avLst/>
          </a:prstGeom>
          <a:noFill/>
          <a:ln/>
        </p:spPr>
        <p:txBody>
          <a:bodyPr wrap="square" lIns="0" tIns="0" rIns="0" bIns="0" rtlCol="0" anchor="ctr"/>
          <a:lstStyle/>
          <a:p>
            <a:pPr marL="0" indent="0">
              <a:buNone/>
            </a:pPr>
            <a:r>
              <a:rPr lang="en-US" sz="1800" dirty="0">
                <a:solidFill>
                  <a:srgbClr val="1F1010"/>
                </a:solidFill>
                <a:latin typeface="EB Garamond" pitchFamily="34" charset="0"/>
                <a:ea typeface="EB Garamond" pitchFamily="34" charset="-122"/>
                <a:cs typeface="EB Garamond" pitchFamily="34" charset="-120"/>
              </a:rPr>
              <a:t>Guest Speaker</a:t>
            </a:r>
            <a:endParaRPr lang="en-US" sz="1800" dirty="0"/>
          </a:p>
        </p:txBody>
      </p:sp>
      <p:sp>
        <p:nvSpPr>
          <p:cNvPr id="26" name="Text 24"/>
          <p:cNvSpPr txBox="1"/>
          <p:nvPr/>
        </p:nvSpPr>
        <p:spPr>
          <a:xfrm>
            <a:off x="9258071" y="4297680"/>
            <a:ext cx="1927784" cy="320040"/>
          </a:xfrm>
          <a:prstGeom prst="rect">
            <a:avLst/>
          </a:prstGeom>
          <a:noFill/>
          <a:ln/>
        </p:spPr>
        <p:txBody>
          <a:bodyPr wrap="square" lIns="0" tIns="0" rIns="0" bIns="0" rtlCol="0" anchor="ctr"/>
          <a:lstStyle/>
          <a:p>
            <a:pPr marL="0" indent="0">
              <a:buNone/>
            </a:pPr>
            <a:r>
              <a:rPr lang="en-US" sz="1300" dirty="0">
                <a:solidFill>
                  <a:srgbClr val="1F1010"/>
                </a:solidFill>
                <a:latin typeface="EB Garamond" pitchFamily="34" charset="0"/>
                <a:ea typeface="EB Garamond" pitchFamily="34" charset="-122"/>
                <a:cs typeface="EB Garamond" pitchFamily="34" charset="-120"/>
              </a:rPr>
              <a:t>Scott Ostfeld, 4:00 PM CT</a:t>
            </a:r>
            <a:endParaRPr lang="en-US" sz="1300" dirty="0"/>
          </a:p>
        </p:txBody>
      </p:sp>
      <p:sp>
        <p:nvSpPr>
          <p:cNvPr id="27" name="Text 25"/>
          <p:cNvSpPr txBox="1"/>
          <p:nvPr/>
        </p:nvSpPr>
        <p:spPr>
          <a:xfrm>
            <a:off x="731520" y="5303520"/>
            <a:ext cx="10728655" cy="365760"/>
          </a:xfrm>
          <a:prstGeom prst="rect">
            <a:avLst/>
          </a:prstGeom>
          <a:noFill/>
          <a:ln/>
        </p:spPr>
        <p:txBody>
          <a:bodyPr wrap="square" lIns="0" tIns="0" rIns="0" bIns="0" rtlCol="0" anchor="ctr"/>
          <a:lstStyle/>
          <a:p>
            <a:pPr marL="0" indent="0" algn="ctr">
              <a:buNone/>
            </a:pPr>
            <a:r>
              <a:rPr lang="en-US" sz="1500" b="1" dirty="0">
                <a:solidFill>
                  <a:srgbClr val="77080E"/>
                </a:solidFill>
                <a:latin typeface="EB Garamond" pitchFamily="34" charset="0"/>
                <a:ea typeface="EB Garamond" pitchFamily="34" charset="-122"/>
                <a:cs typeface="EB Garamond" pitchFamily="34" charset="-120"/>
              </a:rPr>
              <a:t>Applications are reviewed on a rolling basis.</a:t>
            </a:r>
            <a:r>
              <a:rPr lang="en-US" sz="1500" dirty="0">
                <a:solidFill>
                  <a:srgbClr val="1F1010"/>
                </a:solidFill>
                <a:latin typeface="EB Garamond" pitchFamily="34" charset="0"/>
                <a:ea typeface="EB Garamond" pitchFamily="34" charset="-122"/>
                <a:cs typeface="EB Garamond" pitchFamily="34" charset="-120"/>
              </a:rPr>
              <a:t> Apply early, ahead of the October 9 deadline.</a:t>
            </a:r>
            <a:endParaRPr lang="en-US" sz="1500" dirty="0"/>
          </a:p>
        </p:txBody>
      </p:sp>
      <p:sp>
        <p:nvSpPr>
          <p:cNvPr id="28"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Application process</a:t>
            </a:r>
            <a:endParaRPr lang="en-US" sz="3400" dirty="0"/>
          </a:p>
        </p:txBody>
      </p:sp>
      <p:sp>
        <p:nvSpPr>
          <p:cNvPr id="3" name="Shape 1"/>
          <p:cNvSpPr/>
          <p:nvPr/>
        </p:nvSpPr>
        <p:spPr>
          <a:xfrm>
            <a:off x="2072602" y="3063240"/>
            <a:ext cx="0" cy="566928"/>
          </a:xfrm>
          <a:prstGeom prst="line">
            <a:avLst/>
          </a:prstGeom>
          <a:noFill/>
          <a:ln w="31750">
            <a:solidFill>
              <a:srgbClr val="77080E"/>
            </a:solidFill>
            <a:prstDash val="solid"/>
          </a:ln>
        </p:spPr>
        <p:txBody>
          <a:bodyPr/>
          <a:lstStyle/>
          <a:p>
            <a:endParaRPr lang="en-US"/>
          </a:p>
        </p:txBody>
      </p:sp>
      <p:sp>
        <p:nvSpPr>
          <p:cNvPr id="4" name="Shape 2"/>
          <p:cNvSpPr/>
          <p:nvPr/>
        </p:nvSpPr>
        <p:spPr>
          <a:xfrm>
            <a:off x="4754766" y="3630168"/>
            <a:ext cx="0" cy="612648"/>
          </a:xfrm>
          <a:prstGeom prst="line">
            <a:avLst/>
          </a:prstGeom>
          <a:noFill/>
          <a:ln w="31750">
            <a:solidFill>
              <a:srgbClr val="77080E"/>
            </a:solidFill>
            <a:prstDash val="solid"/>
          </a:ln>
        </p:spPr>
        <p:txBody>
          <a:bodyPr/>
          <a:lstStyle/>
          <a:p>
            <a:endParaRPr lang="en-US"/>
          </a:p>
        </p:txBody>
      </p:sp>
      <p:sp>
        <p:nvSpPr>
          <p:cNvPr id="5" name="Shape 3"/>
          <p:cNvSpPr/>
          <p:nvPr/>
        </p:nvSpPr>
        <p:spPr>
          <a:xfrm>
            <a:off x="7436930" y="3063240"/>
            <a:ext cx="0" cy="566928"/>
          </a:xfrm>
          <a:prstGeom prst="line">
            <a:avLst/>
          </a:prstGeom>
          <a:noFill/>
          <a:ln w="31750">
            <a:solidFill>
              <a:srgbClr val="77080E"/>
            </a:solidFill>
            <a:prstDash val="solid"/>
          </a:ln>
        </p:spPr>
        <p:txBody>
          <a:bodyPr/>
          <a:lstStyle/>
          <a:p>
            <a:endParaRPr lang="en-US"/>
          </a:p>
        </p:txBody>
      </p:sp>
      <p:sp>
        <p:nvSpPr>
          <p:cNvPr id="6" name="Shape 4"/>
          <p:cNvSpPr/>
          <p:nvPr/>
        </p:nvSpPr>
        <p:spPr>
          <a:xfrm>
            <a:off x="10119093" y="3630168"/>
            <a:ext cx="0" cy="612648"/>
          </a:xfrm>
          <a:prstGeom prst="line">
            <a:avLst/>
          </a:prstGeom>
          <a:noFill/>
          <a:ln w="31750">
            <a:solidFill>
              <a:srgbClr val="77080E"/>
            </a:solidFill>
            <a:prstDash val="solid"/>
          </a:ln>
        </p:spPr>
        <p:txBody>
          <a:bodyPr/>
          <a:lstStyle/>
          <a:p>
            <a:endParaRPr lang="en-US"/>
          </a:p>
        </p:txBody>
      </p:sp>
      <p:sp>
        <p:nvSpPr>
          <p:cNvPr id="7" name="Shape 5"/>
          <p:cNvSpPr/>
          <p:nvPr/>
        </p:nvSpPr>
        <p:spPr>
          <a:xfrm>
            <a:off x="731520" y="3429000"/>
            <a:ext cx="10728655" cy="402336"/>
          </a:xfrm>
          <a:prstGeom prst="roundRect">
            <a:avLst>
              <a:gd name="adj" fmla="val 50000"/>
            </a:avLst>
          </a:prstGeom>
          <a:solidFill>
            <a:srgbClr val="1F1010"/>
          </a:solidFill>
          <a:ln w="12700">
            <a:solidFill>
              <a:srgbClr val="1F1010"/>
            </a:solidFill>
            <a:prstDash val="solid"/>
          </a:ln>
        </p:spPr>
        <p:txBody>
          <a:bodyPr/>
          <a:lstStyle/>
          <a:p>
            <a:endParaRPr lang="en-US"/>
          </a:p>
        </p:txBody>
      </p:sp>
      <p:sp>
        <p:nvSpPr>
          <p:cNvPr id="8" name="Shape 6"/>
          <p:cNvSpPr/>
          <p:nvPr/>
        </p:nvSpPr>
        <p:spPr>
          <a:xfrm>
            <a:off x="1051560" y="3630168"/>
            <a:ext cx="10088575" cy="0"/>
          </a:xfrm>
          <a:prstGeom prst="line">
            <a:avLst/>
          </a:prstGeom>
          <a:noFill/>
          <a:ln w="25400">
            <a:solidFill>
              <a:srgbClr val="FFFFFF"/>
            </a:solidFill>
            <a:prstDash val="dash"/>
          </a:ln>
        </p:spPr>
        <p:txBody>
          <a:bodyPr/>
          <a:lstStyle/>
          <a:p>
            <a:endParaRPr lang="en-US"/>
          </a:p>
        </p:txBody>
      </p:sp>
      <p:sp>
        <p:nvSpPr>
          <p:cNvPr id="9" name="Shape 7"/>
          <p:cNvSpPr/>
          <p:nvPr/>
        </p:nvSpPr>
        <p:spPr>
          <a:xfrm>
            <a:off x="1706842" y="3264408"/>
            <a:ext cx="731520" cy="731520"/>
          </a:xfrm>
          <a:prstGeom prst="ellipse">
            <a:avLst/>
          </a:prstGeom>
          <a:solidFill>
            <a:srgbClr val="77080E"/>
          </a:solidFill>
          <a:ln w="38100">
            <a:solidFill>
              <a:srgbClr val="FFFFFF"/>
            </a:solidFill>
            <a:prstDash val="solid"/>
          </a:ln>
        </p:spPr>
        <p:txBody>
          <a:bodyPr/>
          <a:lstStyle/>
          <a:p>
            <a:endParaRPr lang="en-US"/>
          </a:p>
        </p:txBody>
      </p:sp>
      <p:sp>
        <p:nvSpPr>
          <p:cNvPr id="10" name="Text 8"/>
          <p:cNvSpPr txBox="1"/>
          <p:nvPr/>
        </p:nvSpPr>
        <p:spPr>
          <a:xfrm>
            <a:off x="1706842" y="3264408"/>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EB Garamond" pitchFamily="34" charset="0"/>
                <a:ea typeface="EB Garamond" pitchFamily="34" charset="-122"/>
                <a:cs typeface="EB Garamond" pitchFamily="34" charset="-120"/>
              </a:rPr>
              <a:t>1</a:t>
            </a:r>
            <a:endParaRPr lang="en-US" sz="2200" dirty="0"/>
          </a:p>
        </p:txBody>
      </p:sp>
      <p:sp>
        <p:nvSpPr>
          <p:cNvPr id="11" name="Shape 9"/>
          <p:cNvSpPr/>
          <p:nvPr/>
        </p:nvSpPr>
        <p:spPr>
          <a:xfrm>
            <a:off x="815302" y="1645920"/>
            <a:ext cx="2514600" cy="1417320"/>
          </a:xfrm>
          <a:prstGeom prst="rect">
            <a:avLst/>
          </a:prstGeom>
          <a:solidFill>
            <a:srgbClr val="FFFFFF"/>
          </a:solidFill>
          <a:ln w="19050">
            <a:solidFill>
              <a:srgbClr val="77080E"/>
            </a:solidFill>
            <a:prstDash val="solid"/>
          </a:ln>
        </p:spPr>
        <p:txBody>
          <a:bodyPr/>
          <a:lstStyle/>
          <a:p>
            <a:endParaRPr lang="en-US"/>
          </a:p>
        </p:txBody>
      </p:sp>
      <p:sp>
        <p:nvSpPr>
          <p:cNvPr id="12" name="Text 10"/>
          <p:cNvSpPr txBox="1"/>
          <p:nvPr/>
        </p:nvSpPr>
        <p:spPr>
          <a:xfrm>
            <a:off x="998182" y="1810512"/>
            <a:ext cx="2148840" cy="365760"/>
          </a:xfrm>
          <a:prstGeom prst="rect">
            <a:avLst/>
          </a:prstGeom>
          <a:noFill/>
          <a:ln/>
        </p:spPr>
        <p:txBody>
          <a:bodyPr wrap="square" lIns="0" tIns="0" rIns="0" bIns="0" rtlCol="0" anchor="ctr"/>
          <a:lstStyle/>
          <a:p>
            <a:pPr marL="0" indent="0">
              <a:buNone/>
            </a:pPr>
            <a:r>
              <a:rPr lang="en-US" sz="1800" b="1" dirty="0">
                <a:solidFill>
                  <a:srgbClr val="1F1010"/>
                </a:solidFill>
                <a:latin typeface="EB Garamond" pitchFamily="34" charset="0"/>
                <a:ea typeface="EB Garamond" pitchFamily="34" charset="-122"/>
                <a:cs typeface="EB Garamond" pitchFamily="34" charset="-120"/>
              </a:rPr>
              <a:t>Written Application</a:t>
            </a:r>
            <a:endParaRPr lang="en-US" sz="1800" dirty="0"/>
          </a:p>
        </p:txBody>
      </p:sp>
      <p:sp>
        <p:nvSpPr>
          <p:cNvPr id="13" name="Text 11"/>
          <p:cNvSpPr txBox="1"/>
          <p:nvPr/>
        </p:nvSpPr>
        <p:spPr>
          <a:xfrm>
            <a:off x="998182" y="2194560"/>
            <a:ext cx="2148840" cy="457200"/>
          </a:xfrm>
          <a:prstGeom prst="rect">
            <a:avLst/>
          </a:prstGeom>
          <a:noFill/>
          <a:ln/>
        </p:spPr>
        <p:txBody>
          <a:bodyPr wrap="square" lIns="0" tIns="0" rIns="0" bIns="0" rtlCol="0" anchor="t"/>
          <a:lstStyle/>
          <a:p>
            <a:pPr marL="0" indent="0">
              <a:buNone/>
            </a:pPr>
            <a:r>
              <a:rPr lang="en-US" sz="1400" dirty="0">
                <a:solidFill>
                  <a:srgbClr val="1F1010"/>
                </a:solidFill>
                <a:latin typeface="EB Garamond" pitchFamily="34" charset="0"/>
                <a:ea typeface="EB Garamond" pitchFamily="34" charset="-122"/>
                <a:cs typeface="EB Garamond" pitchFamily="34" charset="-120"/>
              </a:rPr>
              <a:t>Tell us about yourself and why you want to join.</a:t>
            </a:r>
            <a:endParaRPr lang="en-US" sz="1400" dirty="0"/>
          </a:p>
        </p:txBody>
      </p:sp>
      <p:sp>
        <p:nvSpPr>
          <p:cNvPr id="14" name="Text 12"/>
          <p:cNvSpPr txBox="1"/>
          <p:nvPr/>
        </p:nvSpPr>
        <p:spPr>
          <a:xfrm>
            <a:off x="998182" y="2651760"/>
            <a:ext cx="2148840" cy="292608"/>
          </a:xfrm>
          <a:prstGeom prst="rect">
            <a:avLst/>
          </a:prstGeom>
          <a:noFill/>
          <a:ln/>
        </p:spPr>
        <p:txBody>
          <a:bodyPr wrap="square" lIns="0" tIns="0" rIns="0" bIns="0" rtlCol="0" anchor="ctr"/>
          <a:lstStyle/>
          <a:p>
            <a:pPr marL="0" indent="0">
              <a:buNone/>
            </a:pPr>
            <a:r>
              <a:rPr lang="en-US" sz="1400" b="1" dirty="0">
                <a:solidFill>
                  <a:srgbClr val="77080E"/>
                </a:solidFill>
                <a:latin typeface="EB Garamond" pitchFamily="34" charset="0"/>
                <a:ea typeface="EB Garamond" pitchFamily="34" charset="-122"/>
                <a:cs typeface="EB Garamond" pitchFamily="34" charset="-120"/>
              </a:rPr>
              <a:t>Due Friday, October 9</a:t>
            </a:r>
            <a:endParaRPr lang="en-US" sz="1400" dirty="0"/>
          </a:p>
        </p:txBody>
      </p:sp>
      <p:sp>
        <p:nvSpPr>
          <p:cNvPr id="15" name="Shape 13"/>
          <p:cNvSpPr/>
          <p:nvPr/>
        </p:nvSpPr>
        <p:spPr>
          <a:xfrm>
            <a:off x="4389006" y="3264408"/>
            <a:ext cx="731520" cy="731520"/>
          </a:xfrm>
          <a:prstGeom prst="ellipse">
            <a:avLst/>
          </a:prstGeom>
          <a:solidFill>
            <a:srgbClr val="77080E"/>
          </a:solidFill>
          <a:ln w="38100">
            <a:solidFill>
              <a:srgbClr val="FFFFFF"/>
            </a:solidFill>
            <a:prstDash val="solid"/>
          </a:ln>
        </p:spPr>
        <p:txBody>
          <a:bodyPr/>
          <a:lstStyle/>
          <a:p>
            <a:endParaRPr lang="en-US"/>
          </a:p>
        </p:txBody>
      </p:sp>
      <p:sp>
        <p:nvSpPr>
          <p:cNvPr id="16" name="Text 14"/>
          <p:cNvSpPr txBox="1"/>
          <p:nvPr/>
        </p:nvSpPr>
        <p:spPr>
          <a:xfrm>
            <a:off x="4389006" y="3264408"/>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EB Garamond" pitchFamily="34" charset="0"/>
                <a:ea typeface="EB Garamond" pitchFamily="34" charset="-122"/>
                <a:cs typeface="EB Garamond" pitchFamily="34" charset="-120"/>
              </a:rPr>
              <a:t>2</a:t>
            </a:r>
            <a:endParaRPr lang="en-US" sz="2200" dirty="0"/>
          </a:p>
        </p:txBody>
      </p:sp>
      <p:sp>
        <p:nvSpPr>
          <p:cNvPr id="17" name="Shape 15"/>
          <p:cNvSpPr/>
          <p:nvPr/>
        </p:nvSpPr>
        <p:spPr>
          <a:xfrm>
            <a:off x="3497466" y="4242816"/>
            <a:ext cx="2514600" cy="1417320"/>
          </a:xfrm>
          <a:prstGeom prst="rect">
            <a:avLst/>
          </a:prstGeom>
          <a:solidFill>
            <a:srgbClr val="FFFFFF"/>
          </a:solidFill>
          <a:ln w="19050">
            <a:solidFill>
              <a:srgbClr val="77080E"/>
            </a:solidFill>
            <a:prstDash val="solid"/>
          </a:ln>
        </p:spPr>
        <p:txBody>
          <a:bodyPr/>
          <a:lstStyle/>
          <a:p>
            <a:endParaRPr lang="en-US"/>
          </a:p>
        </p:txBody>
      </p:sp>
      <p:sp>
        <p:nvSpPr>
          <p:cNvPr id="18" name="Text 16"/>
          <p:cNvSpPr txBox="1"/>
          <p:nvPr/>
        </p:nvSpPr>
        <p:spPr>
          <a:xfrm>
            <a:off x="3680346" y="4407408"/>
            <a:ext cx="2148840" cy="365760"/>
          </a:xfrm>
          <a:prstGeom prst="rect">
            <a:avLst/>
          </a:prstGeom>
          <a:noFill/>
          <a:ln/>
        </p:spPr>
        <p:txBody>
          <a:bodyPr wrap="square" lIns="0" tIns="0" rIns="0" bIns="0" rtlCol="0" anchor="ctr"/>
          <a:lstStyle/>
          <a:p>
            <a:pPr marL="0" indent="0">
              <a:buNone/>
            </a:pPr>
            <a:r>
              <a:rPr lang="en-US" sz="1800" b="1" dirty="0">
                <a:solidFill>
                  <a:srgbClr val="1F1010"/>
                </a:solidFill>
                <a:latin typeface="EB Garamond" pitchFamily="34" charset="0"/>
                <a:ea typeface="EB Garamond" pitchFamily="34" charset="-122"/>
                <a:cs typeface="EB Garamond" pitchFamily="34" charset="-120"/>
              </a:rPr>
              <a:t>First Interview</a:t>
            </a:r>
            <a:endParaRPr lang="en-US" sz="1800" dirty="0"/>
          </a:p>
        </p:txBody>
      </p:sp>
      <p:sp>
        <p:nvSpPr>
          <p:cNvPr id="19" name="Text 17"/>
          <p:cNvSpPr txBox="1"/>
          <p:nvPr/>
        </p:nvSpPr>
        <p:spPr>
          <a:xfrm>
            <a:off x="3680346" y="4791456"/>
            <a:ext cx="2148840" cy="457200"/>
          </a:xfrm>
          <a:prstGeom prst="rect">
            <a:avLst/>
          </a:prstGeom>
          <a:noFill/>
          <a:ln/>
        </p:spPr>
        <p:txBody>
          <a:bodyPr wrap="square" lIns="0" tIns="0" rIns="0" bIns="0" rtlCol="0" anchor="t"/>
          <a:lstStyle/>
          <a:p>
            <a:pPr marL="0" indent="0">
              <a:buNone/>
            </a:pPr>
            <a:r>
              <a:rPr lang="en-US" sz="1400" dirty="0">
                <a:solidFill>
                  <a:srgbClr val="1F1010"/>
                </a:solidFill>
                <a:latin typeface="EB Garamond" pitchFamily="34" charset="0"/>
                <a:ea typeface="EB Garamond" pitchFamily="34" charset="-122"/>
                <a:cs typeface="EB Garamond" pitchFamily="34" charset="-120"/>
              </a:rPr>
              <a:t>A conversation with our leadership team.</a:t>
            </a:r>
            <a:endParaRPr lang="en-US" sz="1400" dirty="0"/>
          </a:p>
        </p:txBody>
      </p:sp>
      <p:sp>
        <p:nvSpPr>
          <p:cNvPr id="20" name="Text 18"/>
          <p:cNvSpPr txBox="1"/>
          <p:nvPr/>
        </p:nvSpPr>
        <p:spPr>
          <a:xfrm>
            <a:off x="3680346" y="5248656"/>
            <a:ext cx="2148840" cy="292608"/>
          </a:xfrm>
          <a:prstGeom prst="rect">
            <a:avLst/>
          </a:prstGeom>
          <a:noFill/>
          <a:ln/>
        </p:spPr>
        <p:txBody>
          <a:bodyPr wrap="square" lIns="0" tIns="0" rIns="0" bIns="0" rtlCol="0" anchor="ctr"/>
          <a:lstStyle/>
          <a:p>
            <a:pPr marL="0" indent="0">
              <a:buNone/>
            </a:pPr>
            <a:r>
              <a:rPr lang="en-US" sz="1300" b="1" dirty="0">
                <a:solidFill>
                  <a:srgbClr val="77080E"/>
                </a:solidFill>
                <a:latin typeface="EB Garamond" pitchFamily="34" charset="0"/>
                <a:ea typeface="EB Garamond" pitchFamily="34" charset="-122"/>
                <a:cs typeface="EB Garamond" pitchFamily="34" charset="-120"/>
              </a:rPr>
              <a:t>Rolling: Starts Monday (10/5)</a:t>
            </a:r>
            <a:endParaRPr lang="en-US" sz="1300" dirty="0"/>
          </a:p>
        </p:txBody>
      </p:sp>
      <p:sp>
        <p:nvSpPr>
          <p:cNvPr id="21" name="Shape 19"/>
          <p:cNvSpPr/>
          <p:nvPr/>
        </p:nvSpPr>
        <p:spPr>
          <a:xfrm>
            <a:off x="7071169" y="3264408"/>
            <a:ext cx="731520" cy="731520"/>
          </a:xfrm>
          <a:prstGeom prst="ellipse">
            <a:avLst/>
          </a:prstGeom>
          <a:solidFill>
            <a:srgbClr val="77080E"/>
          </a:solidFill>
          <a:ln w="38100">
            <a:solidFill>
              <a:srgbClr val="FFFFFF"/>
            </a:solidFill>
            <a:prstDash val="solid"/>
          </a:ln>
        </p:spPr>
        <p:txBody>
          <a:bodyPr/>
          <a:lstStyle/>
          <a:p>
            <a:endParaRPr lang="en-US"/>
          </a:p>
        </p:txBody>
      </p:sp>
      <p:sp>
        <p:nvSpPr>
          <p:cNvPr id="22" name="Text 20"/>
          <p:cNvSpPr txBox="1"/>
          <p:nvPr/>
        </p:nvSpPr>
        <p:spPr>
          <a:xfrm>
            <a:off x="7071169" y="3264408"/>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EB Garamond" pitchFamily="34" charset="0"/>
                <a:ea typeface="EB Garamond" pitchFamily="34" charset="-122"/>
                <a:cs typeface="EB Garamond" pitchFamily="34" charset="-120"/>
              </a:rPr>
              <a:t>3</a:t>
            </a:r>
            <a:endParaRPr lang="en-US" sz="2200" dirty="0"/>
          </a:p>
        </p:txBody>
      </p:sp>
      <p:sp>
        <p:nvSpPr>
          <p:cNvPr id="23" name="Shape 21"/>
          <p:cNvSpPr/>
          <p:nvPr/>
        </p:nvSpPr>
        <p:spPr>
          <a:xfrm>
            <a:off x="6179630" y="1645920"/>
            <a:ext cx="2514600" cy="1417320"/>
          </a:xfrm>
          <a:prstGeom prst="rect">
            <a:avLst/>
          </a:prstGeom>
          <a:solidFill>
            <a:srgbClr val="FFFFFF"/>
          </a:solidFill>
          <a:ln w="19050">
            <a:solidFill>
              <a:srgbClr val="77080E"/>
            </a:solidFill>
            <a:prstDash val="solid"/>
          </a:ln>
        </p:spPr>
        <p:txBody>
          <a:bodyPr/>
          <a:lstStyle/>
          <a:p>
            <a:endParaRPr lang="en-US"/>
          </a:p>
        </p:txBody>
      </p:sp>
      <p:sp>
        <p:nvSpPr>
          <p:cNvPr id="24" name="Text 22"/>
          <p:cNvSpPr txBox="1"/>
          <p:nvPr/>
        </p:nvSpPr>
        <p:spPr>
          <a:xfrm>
            <a:off x="6362510" y="1810512"/>
            <a:ext cx="2148840" cy="365760"/>
          </a:xfrm>
          <a:prstGeom prst="rect">
            <a:avLst/>
          </a:prstGeom>
          <a:noFill/>
          <a:ln/>
        </p:spPr>
        <p:txBody>
          <a:bodyPr wrap="square" lIns="0" tIns="0" rIns="0" bIns="0" rtlCol="0" anchor="ctr"/>
          <a:lstStyle/>
          <a:p>
            <a:pPr marL="0" indent="0">
              <a:buNone/>
            </a:pPr>
            <a:r>
              <a:rPr lang="en-US" sz="1800" b="1" dirty="0">
                <a:solidFill>
                  <a:srgbClr val="1F1010"/>
                </a:solidFill>
                <a:latin typeface="EB Garamond" pitchFamily="34" charset="0"/>
                <a:ea typeface="EB Garamond" pitchFamily="34" charset="-122"/>
                <a:cs typeface="EB Garamond" pitchFamily="34" charset="-120"/>
              </a:rPr>
              <a:t>Final Interview</a:t>
            </a:r>
            <a:endParaRPr lang="en-US" sz="1800" dirty="0"/>
          </a:p>
        </p:txBody>
      </p:sp>
      <p:sp>
        <p:nvSpPr>
          <p:cNvPr id="25" name="Text 23"/>
          <p:cNvSpPr txBox="1"/>
          <p:nvPr/>
        </p:nvSpPr>
        <p:spPr>
          <a:xfrm>
            <a:off x="6362510" y="2194560"/>
            <a:ext cx="2148840" cy="457200"/>
          </a:xfrm>
          <a:prstGeom prst="rect">
            <a:avLst/>
          </a:prstGeom>
          <a:noFill/>
          <a:ln/>
        </p:spPr>
        <p:txBody>
          <a:bodyPr wrap="square" lIns="0" tIns="0" rIns="0" bIns="0" rtlCol="0" anchor="t"/>
          <a:lstStyle/>
          <a:p>
            <a:pPr marL="0" indent="0">
              <a:buNone/>
            </a:pPr>
            <a:r>
              <a:rPr lang="en-US" sz="1400" dirty="0">
                <a:solidFill>
                  <a:srgbClr val="1F1010"/>
                </a:solidFill>
                <a:latin typeface="EB Garamond" pitchFamily="34" charset="0"/>
                <a:ea typeface="EB Garamond" pitchFamily="34" charset="-122"/>
                <a:cs typeface="EB Garamond" pitchFamily="34" charset="-120"/>
              </a:rPr>
              <a:t>A second conversation with our leadership team.</a:t>
            </a:r>
            <a:endParaRPr lang="en-US" sz="1400" dirty="0"/>
          </a:p>
        </p:txBody>
      </p:sp>
      <p:sp>
        <p:nvSpPr>
          <p:cNvPr id="26" name="Text 24"/>
          <p:cNvSpPr txBox="1"/>
          <p:nvPr/>
        </p:nvSpPr>
        <p:spPr>
          <a:xfrm>
            <a:off x="6362510" y="2651760"/>
            <a:ext cx="2148840" cy="292608"/>
          </a:xfrm>
          <a:prstGeom prst="rect">
            <a:avLst/>
          </a:prstGeom>
          <a:noFill/>
          <a:ln/>
        </p:spPr>
        <p:txBody>
          <a:bodyPr wrap="square" lIns="0" tIns="0" rIns="0" bIns="0" rtlCol="0" anchor="ctr"/>
          <a:lstStyle/>
          <a:p>
            <a:pPr marL="0" indent="0">
              <a:buNone/>
            </a:pPr>
            <a:r>
              <a:rPr lang="en-US" sz="1400" b="1" dirty="0">
                <a:solidFill>
                  <a:srgbClr val="77080E"/>
                </a:solidFill>
                <a:latin typeface="EB Garamond" pitchFamily="34" charset="0"/>
                <a:ea typeface="EB Garamond" pitchFamily="34" charset="-122"/>
                <a:cs typeface="EB Garamond" pitchFamily="34" charset="-120"/>
              </a:rPr>
              <a:t>Rolling Interviews</a:t>
            </a:r>
            <a:endParaRPr lang="en-US" sz="1400" dirty="0"/>
          </a:p>
        </p:txBody>
      </p:sp>
      <p:sp>
        <p:nvSpPr>
          <p:cNvPr id="27" name="Shape 25"/>
          <p:cNvSpPr/>
          <p:nvPr/>
        </p:nvSpPr>
        <p:spPr>
          <a:xfrm>
            <a:off x="9753333" y="3264408"/>
            <a:ext cx="731520" cy="731520"/>
          </a:xfrm>
          <a:prstGeom prst="ellipse">
            <a:avLst/>
          </a:prstGeom>
          <a:solidFill>
            <a:srgbClr val="77080E"/>
          </a:solidFill>
          <a:ln w="38100">
            <a:solidFill>
              <a:srgbClr val="FFFFFF"/>
            </a:solidFill>
            <a:prstDash val="solid"/>
          </a:ln>
        </p:spPr>
        <p:txBody>
          <a:bodyPr/>
          <a:lstStyle/>
          <a:p>
            <a:endParaRPr lang="en-US"/>
          </a:p>
        </p:txBody>
      </p:sp>
      <p:sp>
        <p:nvSpPr>
          <p:cNvPr id="28" name="Text 26"/>
          <p:cNvSpPr txBox="1"/>
          <p:nvPr/>
        </p:nvSpPr>
        <p:spPr>
          <a:xfrm>
            <a:off x="9753333" y="3264408"/>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EB Garamond" pitchFamily="34" charset="0"/>
                <a:ea typeface="EB Garamond" pitchFamily="34" charset="-122"/>
                <a:cs typeface="EB Garamond" pitchFamily="34" charset="-120"/>
              </a:rPr>
              <a:t>4</a:t>
            </a:r>
            <a:endParaRPr lang="en-US" sz="2200" dirty="0"/>
          </a:p>
        </p:txBody>
      </p:sp>
      <p:sp>
        <p:nvSpPr>
          <p:cNvPr id="29" name="Shape 27"/>
          <p:cNvSpPr/>
          <p:nvPr/>
        </p:nvSpPr>
        <p:spPr>
          <a:xfrm>
            <a:off x="8861793" y="4242816"/>
            <a:ext cx="2514600" cy="1417320"/>
          </a:xfrm>
          <a:prstGeom prst="rect">
            <a:avLst/>
          </a:prstGeom>
          <a:solidFill>
            <a:srgbClr val="FFFFFF"/>
          </a:solidFill>
          <a:ln w="19050">
            <a:solidFill>
              <a:srgbClr val="77080E"/>
            </a:solidFill>
            <a:prstDash val="solid"/>
          </a:ln>
        </p:spPr>
        <p:txBody>
          <a:bodyPr/>
          <a:lstStyle/>
          <a:p>
            <a:endParaRPr lang="en-US"/>
          </a:p>
        </p:txBody>
      </p:sp>
      <p:sp>
        <p:nvSpPr>
          <p:cNvPr id="30" name="Text 28"/>
          <p:cNvSpPr txBox="1"/>
          <p:nvPr/>
        </p:nvSpPr>
        <p:spPr>
          <a:xfrm>
            <a:off x="9044673" y="4407408"/>
            <a:ext cx="2148840" cy="365760"/>
          </a:xfrm>
          <a:prstGeom prst="rect">
            <a:avLst/>
          </a:prstGeom>
          <a:noFill/>
          <a:ln/>
        </p:spPr>
        <p:txBody>
          <a:bodyPr wrap="square" lIns="0" tIns="0" rIns="0" bIns="0" rtlCol="0" anchor="ctr"/>
          <a:lstStyle/>
          <a:p>
            <a:pPr marL="0" indent="0">
              <a:buNone/>
            </a:pPr>
            <a:r>
              <a:rPr lang="en-US" sz="1800" b="1" dirty="0">
                <a:solidFill>
                  <a:srgbClr val="1F1010"/>
                </a:solidFill>
                <a:latin typeface="EB Garamond" pitchFamily="34" charset="0"/>
                <a:ea typeface="EB Garamond" pitchFamily="34" charset="-122"/>
                <a:cs typeface="EB Garamond" pitchFamily="34" charset="-120"/>
              </a:rPr>
              <a:t>Welcome to the Club</a:t>
            </a:r>
            <a:endParaRPr lang="en-US" sz="1800" dirty="0"/>
          </a:p>
        </p:txBody>
      </p:sp>
      <p:sp>
        <p:nvSpPr>
          <p:cNvPr id="31" name="Text 29"/>
          <p:cNvSpPr txBox="1"/>
          <p:nvPr/>
        </p:nvSpPr>
        <p:spPr>
          <a:xfrm>
            <a:off x="9044673" y="4791456"/>
            <a:ext cx="2148840" cy="457200"/>
          </a:xfrm>
          <a:prstGeom prst="rect">
            <a:avLst/>
          </a:prstGeom>
          <a:noFill/>
          <a:ln/>
        </p:spPr>
        <p:txBody>
          <a:bodyPr wrap="square" lIns="0" tIns="0" rIns="0" bIns="0" rtlCol="0" anchor="t"/>
          <a:lstStyle/>
          <a:p>
            <a:pPr marL="0" indent="0">
              <a:buNone/>
            </a:pPr>
            <a:r>
              <a:rPr lang="en-US" sz="1400" dirty="0">
                <a:solidFill>
                  <a:srgbClr val="1F1010"/>
                </a:solidFill>
                <a:latin typeface="EB Garamond" pitchFamily="34" charset="0"/>
                <a:ea typeface="EB Garamond" pitchFamily="34" charset="-122"/>
                <a:cs typeface="EB Garamond" pitchFamily="34" charset="-120"/>
              </a:rPr>
              <a:t>New member education begins.</a:t>
            </a:r>
            <a:endParaRPr lang="en-US" sz="1400" dirty="0"/>
          </a:p>
        </p:txBody>
      </p:sp>
      <p:sp>
        <p:nvSpPr>
          <p:cNvPr id="32" name="Text 30"/>
          <p:cNvSpPr txBox="1"/>
          <p:nvPr/>
        </p:nvSpPr>
        <p:spPr>
          <a:xfrm>
            <a:off x="9044673" y="5248656"/>
            <a:ext cx="2148840" cy="292608"/>
          </a:xfrm>
          <a:prstGeom prst="rect">
            <a:avLst/>
          </a:prstGeom>
          <a:noFill/>
          <a:ln/>
        </p:spPr>
        <p:txBody>
          <a:bodyPr wrap="square" lIns="0" tIns="0" rIns="0" bIns="0" rtlCol="0" anchor="ctr"/>
          <a:lstStyle/>
          <a:p>
            <a:pPr marL="0" indent="0">
              <a:buNone/>
            </a:pPr>
            <a:r>
              <a:rPr lang="en-US" sz="1400" b="1" dirty="0">
                <a:solidFill>
                  <a:srgbClr val="77080E"/>
                </a:solidFill>
                <a:latin typeface="EB Garamond" pitchFamily="34" charset="0"/>
                <a:ea typeface="EB Garamond" pitchFamily="34" charset="-122"/>
                <a:cs typeface="EB Garamond" pitchFamily="34" charset="-120"/>
              </a:rPr>
              <a:t>Fall Quarter, Week 4</a:t>
            </a:r>
            <a:endParaRPr lang="en-US" sz="1400" dirty="0"/>
          </a:p>
        </p:txBody>
      </p:sp>
      <p:sp>
        <p:nvSpPr>
          <p:cNvPr id="33"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Events</a:t>
            </a:r>
            <a:endParaRPr lang="en-US" sz="3400" dirty="0"/>
          </a:p>
        </p:txBody>
      </p:sp>
      <p:sp>
        <p:nvSpPr>
          <p:cNvPr id="3" name="Shape 1"/>
          <p:cNvSpPr/>
          <p:nvPr/>
        </p:nvSpPr>
        <p:spPr>
          <a:xfrm>
            <a:off x="1463040" y="1828800"/>
            <a:ext cx="9265615" cy="3566160"/>
          </a:xfrm>
          <a:prstGeom prst="rect">
            <a:avLst/>
          </a:prstGeom>
          <a:solidFill>
            <a:srgbClr val="FFFFFF"/>
          </a:solidFill>
          <a:ln w="9525">
            <a:solidFill>
              <a:srgbClr val="E3DCDA"/>
            </a:solidFill>
            <a:prstDash val="solid"/>
          </a:ln>
        </p:spPr>
        <p:txBody>
          <a:bodyPr/>
          <a:lstStyle/>
          <a:p>
            <a:endParaRPr lang="en-US"/>
          </a:p>
        </p:txBody>
      </p:sp>
      <p:sp>
        <p:nvSpPr>
          <p:cNvPr id="4" name="Shape 2"/>
          <p:cNvSpPr/>
          <p:nvPr/>
        </p:nvSpPr>
        <p:spPr>
          <a:xfrm>
            <a:off x="1463040" y="1828800"/>
            <a:ext cx="9265615" cy="45720"/>
          </a:xfrm>
          <a:prstGeom prst="rect">
            <a:avLst/>
          </a:prstGeom>
          <a:solidFill>
            <a:srgbClr val="77080E"/>
          </a:solidFill>
          <a:ln w="12700">
            <a:solidFill>
              <a:srgbClr val="77080E"/>
            </a:solidFill>
            <a:prstDash val="solid"/>
          </a:ln>
        </p:spPr>
        <p:txBody>
          <a:bodyPr/>
          <a:lstStyle/>
          <a:p>
            <a:endParaRPr lang="en-US"/>
          </a:p>
        </p:txBody>
      </p:sp>
      <p:pic>
        <p:nvPicPr>
          <p:cNvPr id="5" name="Image 0" descr="live/speaker-scott-ostfeld.jpg"/>
          <p:cNvPicPr>
            <a:picLocks noChangeAspect="1"/>
          </p:cNvPicPr>
          <p:nvPr/>
        </p:nvPicPr>
        <p:blipFill>
          <a:blip r:embed="rId3"/>
          <a:stretch>
            <a:fillRect/>
          </a:stretch>
        </p:blipFill>
        <p:spPr>
          <a:xfrm>
            <a:off x="1874520" y="2240280"/>
            <a:ext cx="2743200" cy="2743200"/>
          </a:xfrm>
          <a:prstGeom prst="rect">
            <a:avLst/>
          </a:prstGeom>
        </p:spPr>
      </p:pic>
      <p:sp>
        <p:nvSpPr>
          <p:cNvPr id="6" name="Shape 3"/>
          <p:cNvSpPr/>
          <p:nvPr/>
        </p:nvSpPr>
        <p:spPr>
          <a:xfrm>
            <a:off x="1874520" y="2240280"/>
            <a:ext cx="2743200" cy="2743200"/>
          </a:xfrm>
          <a:prstGeom prst="rect">
            <a:avLst/>
          </a:prstGeom>
          <a:solidFill>
            <a:srgbClr val="FFFFFF">
              <a:alpha val="0"/>
            </a:srgbClr>
          </a:solidFill>
          <a:ln w="15875">
            <a:solidFill>
              <a:srgbClr val="77080E"/>
            </a:solidFill>
            <a:prstDash val="solid"/>
          </a:ln>
        </p:spPr>
        <p:txBody>
          <a:bodyPr/>
          <a:lstStyle/>
          <a:p>
            <a:endParaRPr lang="en-US"/>
          </a:p>
        </p:txBody>
      </p:sp>
      <p:sp>
        <p:nvSpPr>
          <p:cNvPr id="7" name="Text 4"/>
          <p:cNvSpPr txBox="1"/>
          <p:nvPr/>
        </p:nvSpPr>
        <p:spPr>
          <a:xfrm>
            <a:off x="4983480" y="2240280"/>
            <a:ext cx="5333695" cy="502920"/>
          </a:xfrm>
          <a:prstGeom prst="rect">
            <a:avLst/>
          </a:prstGeom>
          <a:noFill/>
          <a:ln/>
        </p:spPr>
        <p:txBody>
          <a:bodyPr wrap="square" lIns="0" tIns="0" rIns="0" bIns="0" rtlCol="0" anchor="ctr"/>
          <a:lstStyle/>
          <a:p>
            <a:pPr marL="0" indent="0">
              <a:buNone/>
            </a:pPr>
            <a:r>
              <a:rPr lang="en-US" sz="2800" dirty="0">
                <a:solidFill>
                  <a:srgbClr val="77080E"/>
                </a:solidFill>
                <a:latin typeface="EB Garamond" pitchFamily="34" charset="0"/>
                <a:ea typeface="EB Garamond" pitchFamily="34" charset="-122"/>
                <a:cs typeface="EB Garamond" pitchFamily="34" charset="-120"/>
              </a:rPr>
              <a:t>Scott Ostfeld</a:t>
            </a:r>
            <a:endParaRPr lang="en-US" sz="2800" dirty="0"/>
          </a:p>
        </p:txBody>
      </p:sp>
      <p:sp>
        <p:nvSpPr>
          <p:cNvPr id="8" name="Text 5"/>
          <p:cNvSpPr txBox="1"/>
          <p:nvPr/>
        </p:nvSpPr>
        <p:spPr>
          <a:xfrm>
            <a:off x="4983480" y="2743200"/>
            <a:ext cx="5333695" cy="320040"/>
          </a:xfrm>
          <a:prstGeom prst="rect">
            <a:avLst/>
          </a:prstGeom>
          <a:noFill/>
          <a:ln/>
        </p:spPr>
        <p:txBody>
          <a:bodyPr wrap="square" lIns="0" tIns="0" rIns="0" bIns="0" rtlCol="0" anchor="ctr"/>
          <a:lstStyle/>
          <a:p>
            <a:pPr marL="0" indent="0">
              <a:buNone/>
            </a:pPr>
            <a:r>
              <a:rPr lang="en-US" sz="1500" dirty="0">
                <a:solidFill>
                  <a:srgbClr val="1F1010"/>
                </a:solidFill>
                <a:latin typeface="EB Garamond" pitchFamily="34" charset="0"/>
                <a:ea typeface="EB Garamond" pitchFamily="34" charset="-122"/>
                <a:cs typeface="EB Garamond" pitchFamily="34" charset="-120"/>
              </a:rPr>
              <a:t>Managing Partner and Portfolio Manager, Jana Partners</a:t>
            </a:r>
            <a:endParaRPr lang="en-US" sz="1500" dirty="0"/>
          </a:p>
        </p:txBody>
      </p:sp>
      <p:sp>
        <p:nvSpPr>
          <p:cNvPr id="9" name="Text 6"/>
          <p:cNvSpPr txBox="1"/>
          <p:nvPr/>
        </p:nvSpPr>
        <p:spPr>
          <a:xfrm>
            <a:off x="4983480" y="3200400"/>
            <a:ext cx="5333695" cy="1097280"/>
          </a:xfrm>
          <a:prstGeom prst="rect">
            <a:avLst/>
          </a:prstGeom>
          <a:noFill/>
          <a:ln/>
        </p:spPr>
        <p:txBody>
          <a:bodyPr wrap="square" lIns="0" tIns="0" rIns="0" bIns="0" rtlCol="0" anchor="t"/>
          <a:lstStyle/>
          <a:p>
            <a:pPr marL="0" indent="0">
              <a:buNone/>
            </a:pPr>
            <a:r>
              <a:rPr lang="en-US" sz="1300" dirty="0">
                <a:solidFill>
                  <a:srgbClr val="1F1010"/>
                </a:solidFill>
                <a:latin typeface="EB Garamond" pitchFamily="34" charset="0"/>
                <a:ea typeface="EB Garamond" pitchFamily="34" charset="-122"/>
                <a:cs typeface="EB Garamond" pitchFamily="34" charset="-120"/>
              </a:rPr>
              <a:t>Jana Partners is a leading activist investing firm with over two decades of experience and $2.4 billion in assets under management. It has led campaigns at Whole Foods, Apple, Six Flags, and PetSmart. Scott serves on the boards of Lamb Weston and Mercury Systems.</a:t>
            </a:r>
            <a:endParaRPr lang="en-US" sz="1300" dirty="0"/>
          </a:p>
        </p:txBody>
      </p:sp>
      <p:sp>
        <p:nvSpPr>
          <p:cNvPr id="10" name="Text 7"/>
          <p:cNvSpPr txBox="1"/>
          <p:nvPr/>
        </p:nvSpPr>
        <p:spPr>
          <a:xfrm>
            <a:off x="4983480" y="4434840"/>
            <a:ext cx="5333695" cy="320040"/>
          </a:xfrm>
          <a:prstGeom prst="rect">
            <a:avLst/>
          </a:prstGeom>
          <a:noFill/>
          <a:ln/>
        </p:spPr>
        <p:txBody>
          <a:bodyPr wrap="square" lIns="0" tIns="0" rIns="0" bIns="0" rtlCol="0" anchor="ctr"/>
          <a:lstStyle/>
          <a:p>
            <a:pPr marL="0" indent="0">
              <a:buNone/>
            </a:pPr>
            <a:r>
              <a:rPr lang="en-US" sz="1500" b="1" dirty="0">
                <a:solidFill>
                  <a:srgbClr val="77080E"/>
                </a:solidFill>
                <a:latin typeface="EB Garamond" pitchFamily="34" charset="0"/>
                <a:ea typeface="EB Garamond" pitchFamily="34" charset="-122"/>
                <a:cs typeface="EB Garamond" pitchFamily="34" charset="-120"/>
              </a:rPr>
              <a:t>Thursday, November 5, 2026</a:t>
            </a:r>
            <a:endParaRPr lang="en-US" sz="1500" dirty="0"/>
          </a:p>
        </p:txBody>
      </p:sp>
      <p:sp>
        <p:nvSpPr>
          <p:cNvPr id="11" name="Text 8"/>
          <p:cNvSpPr txBox="1"/>
          <p:nvPr/>
        </p:nvSpPr>
        <p:spPr>
          <a:xfrm>
            <a:off x="4983480" y="4736592"/>
            <a:ext cx="5333695" cy="274320"/>
          </a:xfrm>
          <a:prstGeom prst="rect">
            <a:avLst/>
          </a:prstGeom>
          <a:noFill/>
          <a:ln/>
        </p:spPr>
        <p:txBody>
          <a:bodyPr wrap="square" lIns="0" tIns="0" rIns="0" bIns="0" rtlCol="0" anchor="ctr"/>
          <a:lstStyle/>
          <a:p>
            <a:pPr marL="0" indent="0">
              <a:buNone/>
            </a:pPr>
            <a:r>
              <a:rPr lang="en-US" sz="1300" dirty="0">
                <a:solidFill>
                  <a:srgbClr val="1F1010"/>
                </a:solidFill>
                <a:latin typeface="EB Garamond" pitchFamily="34" charset="0"/>
                <a:ea typeface="EB Garamond" pitchFamily="34" charset="-122"/>
                <a:cs typeface="EB Garamond" pitchFamily="34" charset="-120"/>
              </a:rPr>
              <a:t>4:00 PM CT</a:t>
            </a:r>
            <a:endParaRPr lang="en-US" sz="1300" dirty="0"/>
          </a:p>
        </p:txBody>
      </p:sp>
      <p:sp>
        <p:nvSpPr>
          <p:cNvPr id="25"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Advisors</a:t>
            </a:r>
            <a:endParaRPr lang="en-US" sz="3400" dirty="0"/>
          </a:p>
        </p:txBody>
      </p:sp>
      <p:sp>
        <p:nvSpPr>
          <p:cNvPr id="3" name="Shape 1"/>
          <p:cNvSpPr/>
          <p:nvPr/>
        </p:nvSpPr>
        <p:spPr>
          <a:xfrm>
            <a:off x="731520" y="1828800"/>
            <a:ext cx="5227168" cy="3749040"/>
          </a:xfrm>
          <a:prstGeom prst="rect">
            <a:avLst/>
          </a:prstGeom>
          <a:solidFill>
            <a:srgbClr val="FFFFFF"/>
          </a:solidFill>
          <a:ln w="9525">
            <a:solidFill>
              <a:srgbClr val="E3DCDA"/>
            </a:solidFill>
            <a:prstDash val="solid"/>
          </a:ln>
        </p:spPr>
        <p:txBody>
          <a:bodyPr/>
          <a:lstStyle/>
          <a:p>
            <a:endParaRPr lang="en-US"/>
          </a:p>
        </p:txBody>
      </p:sp>
      <p:sp>
        <p:nvSpPr>
          <p:cNvPr id="4" name="Shape 2"/>
          <p:cNvSpPr/>
          <p:nvPr/>
        </p:nvSpPr>
        <p:spPr>
          <a:xfrm>
            <a:off x="731520" y="1828800"/>
            <a:ext cx="5227168" cy="45720"/>
          </a:xfrm>
          <a:prstGeom prst="rect">
            <a:avLst/>
          </a:prstGeom>
          <a:solidFill>
            <a:srgbClr val="77080E"/>
          </a:solidFill>
          <a:ln w="12700">
            <a:solidFill>
              <a:srgbClr val="77080E"/>
            </a:solidFill>
            <a:prstDash val="solid"/>
          </a:ln>
        </p:spPr>
        <p:txBody>
          <a:bodyPr/>
          <a:lstStyle/>
          <a:p>
            <a:endParaRPr lang="en-US"/>
          </a:p>
        </p:txBody>
      </p:sp>
      <p:pic>
        <p:nvPicPr>
          <p:cNvPr id="5" name="Image 0" descr="live/advisor-rob-schriesheim.jpg"/>
          <p:cNvPicPr>
            <a:picLocks noChangeAspect="1"/>
          </p:cNvPicPr>
          <p:nvPr/>
        </p:nvPicPr>
        <p:blipFill>
          <a:blip r:embed="rId3"/>
          <a:stretch>
            <a:fillRect/>
          </a:stretch>
        </p:blipFill>
        <p:spPr>
          <a:xfrm>
            <a:off x="1097280" y="2240280"/>
            <a:ext cx="1463040" cy="1463040"/>
          </a:xfrm>
          <a:prstGeom prst="rect">
            <a:avLst/>
          </a:prstGeom>
        </p:spPr>
      </p:pic>
      <p:sp>
        <p:nvSpPr>
          <p:cNvPr id="6" name="Shape 3"/>
          <p:cNvSpPr/>
          <p:nvPr/>
        </p:nvSpPr>
        <p:spPr>
          <a:xfrm>
            <a:off x="1097280" y="2240280"/>
            <a:ext cx="1463040" cy="1463040"/>
          </a:xfrm>
          <a:prstGeom prst="rect">
            <a:avLst/>
          </a:prstGeom>
          <a:solidFill>
            <a:srgbClr val="FFFFFF">
              <a:alpha val="0"/>
            </a:srgbClr>
          </a:solidFill>
          <a:ln w="15875">
            <a:solidFill>
              <a:srgbClr val="77080E"/>
            </a:solidFill>
            <a:prstDash val="solid"/>
          </a:ln>
        </p:spPr>
        <p:txBody>
          <a:bodyPr/>
          <a:lstStyle/>
          <a:p>
            <a:endParaRPr lang="en-US"/>
          </a:p>
        </p:txBody>
      </p:sp>
      <p:sp>
        <p:nvSpPr>
          <p:cNvPr id="7" name="Text 4"/>
          <p:cNvSpPr txBox="1"/>
          <p:nvPr/>
        </p:nvSpPr>
        <p:spPr>
          <a:xfrm>
            <a:off x="2834640" y="2286000"/>
            <a:ext cx="2758288" cy="457200"/>
          </a:xfrm>
          <a:prstGeom prst="rect">
            <a:avLst/>
          </a:prstGeom>
          <a:noFill/>
          <a:ln/>
        </p:spPr>
        <p:txBody>
          <a:bodyPr wrap="square" lIns="0" tIns="0" rIns="0" bIns="0" rtlCol="0" anchor="ctr"/>
          <a:lstStyle/>
          <a:p>
            <a:pPr marL="0" indent="0">
              <a:buNone/>
            </a:pPr>
            <a:r>
              <a:rPr lang="en-US" sz="2400" dirty="0">
                <a:solidFill>
                  <a:srgbClr val="77080E"/>
                </a:solidFill>
                <a:latin typeface="EB Garamond" pitchFamily="34" charset="0"/>
                <a:ea typeface="EB Garamond" pitchFamily="34" charset="-122"/>
                <a:cs typeface="EB Garamond" pitchFamily="34" charset="-120"/>
              </a:rPr>
              <a:t>Robert Schriesheim</a:t>
            </a:r>
            <a:endParaRPr lang="en-US" sz="2400" dirty="0"/>
          </a:p>
        </p:txBody>
      </p:sp>
      <p:sp>
        <p:nvSpPr>
          <p:cNvPr id="8" name="Text 5"/>
          <p:cNvSpPr txBox="1"/>
          <p:nvPr/>
        </p:nvSpPr>
        <p:spPr>
          <a:xfrm>
            <a:off x="2834640" y="2788920"/>
            <a:ext cx="2758288" cy="640080"/>
          </a:xfrm>
          <a:prstGeom prst="rect">
            <a:avLst/>
          </a:prstGeom>
          <a:noFill/>
          <a:ln/>
        </p:spPr>
        <p:txBody>
          <a:bodyPr wrap="square" lIns="0" tIns="0" rIns="0" bIns="0" rtlCol="0" anchor="t"/>
          <a:lstStyle/>
          <a:p>
            <a:pPr marL="0" indent="0">
              <a:buNone/>
            </a:pPr>
            <a:r>
              <a:rPr lang="en-US" sz="1400" dirty="0">
                <a:solidFill>
                  <a:srgbClr val="1F1010"/>
                </a:solidFill>
                <a:latin typeface="EB Garamond" pitchFamily="34" charset="0"/>
                <a:ea typeface="EB Garamond" pitchFamily="34" charset="-122"/>
                <a:cs typeface="EB Garamond" pitchFamily="34" charset="-120"/>
              </a:rPr>
              <a:t>Adjunct Associate Professor of Finance, Chicago Booth</a:t>
            </a:r>
            <a:endParaRPr lang="en-US" sz="1400" dirty="0"/>
          </a:p>
        </p:txBody>
      </p:sp>
      <p:sp>
        <p:nvSpPr>
          <p:cNvPr id="9" name="Text 6"/>
          <p:cNvSpPr txBox="1"/>
          <p:nvPr/>
        </p:nvSpPr>
        <p:spPr>
          <a:xfrm>
            <a:off x="1097280" y="3977640"/>
            <a:ext cx="4495648" cy="1371600"/>
          </a:xfrm>
          <a:prstGeom prst="rect">
            <a:avLst/>
          </a:prstGeom>
          <a:noFill/>
          <a:ln/>
        </p:spPr>
        <p:txBody>
          <a:bodyPr wrap="square" lIns="0" tIns="0" rIns="0" bIns="0" rtlCol="0" anchor="t"/>
          <a:lstStyle/>
          <a:p>
            <a:pPr marL="0" indent="0">
              <a:buNone/>
            </a:pPr>
            <a:r>
              <a:rPr lang="en-US" sz="1300" dirty="0">
                <a:solidFill>
                  <a:srgbClr val="1F1010"/>
                </a:solidFill>
                <a:latin typeface="EB Garamond" pitchFamily="34" charset="0"/>
                <a:ea typeface="EB Garamond" pitchFamily="34" charset="-122"/>
                <a:cs typeface="EB Garamond" pitchFamily="34" charset="-120"/>
              </a:rPr>
              <a:t>Chairman of Truax Partners, advising boards, CEOs, and institutional investors on corporate transformations. He has served on 13 public company boards and as CFO of five public companies, including Sears Holdings, and sits on the boards of Houlihan Lokey, Skyworks Solutions, and Alight.</a:t>
            </a:r>
            <a:endParaRPr lang="en-US" sz="1300" dirty="0"/>
          </a:p>
        </p:txBody>
      </p:sp>
      <p:sp>
        <p:nvSpPr>
          <p:cNvPr id="10" name="Shape 7"/>
          <p:cNvSpPr/>
          <p:nvPr/>
        </p:nvSpPr>
        <p:spPr>
          <a:xfrm>
            <a:off x="6233008" y="1828800"/>
            <a:ext cx="5227168" cy="3749040"/>
          </a:xfrm>
          <a:prstGeom prst="rect">
            <a:avLst/>
          </a:prstGeom>
          <a:solidFill>
            <a:srgbClr val="FFFFFF"/>
          </a:solidFill>
          <a:ln w="9525">
            <a:solidFill>
              <a:srgbClr val="E3DCDA"/>
            </a:solidFill>
            <a:prstDash val="solid"/>
          </a:ln>
        </p:spPr>
        <p:txBody>
          <a:bodyPr/>
          <a:lstStyle/>
          <a:p>
            <a:endParaRPr lang="en-US"/>
          </a:p>
        </p:txBody>
      </p:sp>
      <p:sp>
        <p:nvSpPr>
          <p:cNvPr id="11" name="Shape 8"/>
          <p:cNvSpPr/>
          <p:nvPr/>
        </p:nvSpPr>
        <p:spPr>
          <a:xfrm>
            <a:off x="6233008" y="1828800"/>
            <a:ext cx="5227168" cy="45720"/>
          </a:xfrm>
          <a:prstGeom prst="rect">
            <a:avLst/>
          </a:prstGeom>
          <a:solidFill>
            <a:srgbClr val="77080E"/>
          </a:solidFill>
          <a:ln w="12700">
            <a:solidFill>
              <a:srgbClr val="77080E"/>
            </a:solidFill>
            <a:prstDash val="solid"/>
          </a:ln>
        </p:spPr>
        <p:txBody>
          <a:bodyPr/>
          <a:lstStyle/>
          <a:p>
            <a:endParaRPr lang="en-US"/>
          </a:p>
        </p:txBody>
      </p:sp>
      <p:pic>
        <p:nvPicPr>
          <p:cNvPr id="12" name="Image 1" descr="live/advisor-michael-levin.jpg"/>
          <p:cNvPicPr>
            <a:picLocks noChangeAspect="1"/>
          </p:cNvPicPr>
          <p:nvPr/>
        </p:nvPicPr>
        <p:blipFill>
          <a:blip r:embed="rId4"/>
          <a:stretch>
            <a:fillRect/>
          </a:stretch>
        </p:blipFill>
        <p:spPr>
          <a:xfrm>
            <a:off x="6598768" y="2240280"/>
            <a:ext cx="1463040" cy="1463040"/>
          </a:xfrm>
          <a:prstGeom prst="rect">
            <a:avLst/>
          </a:prstGeom>
        </p:spPr>
      </p:pic>
      <p:sp>
        <p:nvSpPr>
          <p:cNvPr id="13" name="Shape 9"/>
          <p:cNvSpPr/>
          <p:nvPr/>
        </p:nvSpPr>
        <p:spPr>
          <a:xfrm>
            <a:off x="6598768" y="2240280"/>
            <a:ext cx="1463040" cy="1463040"/>
          </a:xfrm>
          <a:prstGeom prst="rect">
            <a:avLst/>
          </a:prstGeom>
          <a:solidFill>
            <a:srgbClr val="FFFFFF">
              <a:alpha val="0"/>
            </a:srgbClr>
          </a:solidFill>
          <a:ln w="15875">
            <a:solidFill>
              <a:srgbClr val="77080E"/>
            </a:solidFill>
            <a:prstDash val="solid"/>
          </a:ln>
        </p:spPr>
        <p:txBody>
          <a:bodyPr/>
          <a:lstStyle/>
          <a:p>
            <a:endParaRPr lang="en-US"/>
          </a:p>
        </p:txBody>
      </p:sp>
      <p:sp>
        <p:nvSpPr>
          <p:cNvPr id="14" name="Text 10"/>
          <p:cNvSpPr txBox="1"/>
          <p:nvPr/>
        </p:nvSpPr>
        <p:spPr>
          <a:xfrm>
            <a:off x="8336128" y="2286000"/>
            <a:ext cx="2758288" cy="457200"/>
          </a:xfrm>
          <a:prstGeom prst="rect">
            <a:avLst/>
          </a:prstGeom>
          <a:noFill/>
          <a:ln/>
        </p:spPr>
        <p:txBody>
          <a:bodyPr wrap="square" lIns="0" tIns="0" rIns="0" bIns="0" rtlCol="0" anchor="ctr"/>
          <a:lstStyle/>
          <a:p>
            <a:pPr marL="0" indent="0">
              <a:buNone/>
            </a:pPr>
            <a:r>
              <a:rPr lang="en-US" sz="2400" dirty="0">
                <a:solidFill>
                  <a:srgbClr val="77080E"/>
                </a:solidFill>
                <a:latin typeface="EB Garamond" pitchFamily="34" charset="0"/>
                <a:ea typeface="EB Garamond" pitchFamily="34" charset="-122"/>
                <a:cs typeface="EB Garamond" pitchFamily="34" charset="-120"/>
              </a:rPr>
              <a:t>Michael R. Levin</a:t>
            </a:r>
            <a:endParaRPr lang="en-US" sz="2400" dirty="0"/>
          </a:p>
        </p:txBody>
      </p:sp>
      <p:sp>
        <p:nvSpPr>
          <p:cNvPr id="15" name="Text 11"/>
          <p:cNvSpPr txBox="1"/>
          <p:nvPr/>
        </p:nvSpPr>
        <p:spPr>
          <a:xfrm>
            <a:off x="8336128" y="2788920"/>
            <a:ext cx="2758288" cy="640080"/>
          </a:xfrm>
          <a:prstGeom prst="rect">
            <a:avLst/>
          </a:prstGeom>
          <a:noFill/>
          <a:ln/>
        </p:spPr>
        <p:txBody>
          <a:bodyPr wrap="square" lIns="0" tIns="0" rIns="0" bIns="0" rtlCol="0" anchor="t"/>
          <a:lstStyle/>
          <a:p>
            <a:pPr marL="0" indent="0">
              <a:buNone/>
            </a:pPr>
            <a:r>
              <a:rPr lang="en-US" sz="1400" dirty="0">
                <a:solidFill>
                  <a:srgbClr val="1F1010"/>
                </a:solidFill>
                <a:latin typeface="EB Garamond" pitchFamily="34" charset="0"/>
                <a:ea typeface="EB Garamond" pitchFamily="34" charset="-122"/>
                <a:cs typeface="EB Garamond" pitchFamily="34" charset="-120"/>
              </a:rPr>
              <a:t>Activist Investor and Board Chair, Comarco, Inc.</a:t>
            </a:r>
            <a:endParaRPr lang="en-US" sz="1400" dirty="0"/>
          </a:p>
        </p:txBody>
      </p:sp>
      <p:sp>
        <p:nvSpPr>
          <p:cNvPr id="16" name="Text 12"/>
          <p:cNvSpPr txBox="1"/>
          <p:nvPr/>
        </p:nvSpPr>
        <p:spPr>
          <a:xfrm>
            <a:off x="6598768" y="3977640"/>
            <a:ext cx="4495648" cy="1371600"/>
          </a:xfrm>
          <a:prstGeom prst="rect">
            <a:avLst/>
          </a:prstGeom>
          <a:noFill/>
          <a:ln/>
        </p:spPr>
        <p:txBody>
          <a:bodyPr wrap="square" lIns="0" tIns="0" rIns="0" bIns="0" rtlCol="0" anchor="t"/>
          <a:lstStyle/>
          <a:p>
            <a:pPr marL="0" indent="0">
              <a:buNone/>
            </a:pPr>
            <a:r>
              <a:rPr lang="en-US" sz="1300" dirty="0">
                <a:solidFill>
                  <a:srgbClr val="1F1010"/>
                </a:solidFill>
                <a:latin typeface="EB Garamond" pitchFamily="34" charset="0"/>
                <a:ea typeface="EB Garamond" pitchFamily="34" charset="-122"/>
                <a:cs typeface="EB Garamond" pitchFamily="34" charset="-120"/>
              </a:rPr>
              <a:t>An activist investor and management consultant with almost thirty years of experience in investing, corporate finance, and equity turnarounds. He chairs the board of Comarco, serves on the board of AG&amp;E Holdings, and holds bachelor’s and master’s degrees in economics from UChicago.</a:t>
            </a:r>
            <a:endParaRPr lang="en-US" sz="1300" dirty="0"/>
          </a:p>
        </p:txBody>
      </p:sp>
      <p:sp>
        <p:nvSpPr>
          <p:cNvPr id="25"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0" y="0"/>
            <a:ext cx="12191695" cy="1371600"/>
          </a:xfrm>
          <a:prstGeom prst="rect">
            <a:avLst/>
          </a:prstGeom>
          <a:noFill/>
          <a:ln/>
        </p:spPr>
        <p:txBody>
          <a:bodyPr wrap="square" lIns="0" tIns="0" rIns="0" bIns="0" rtlCol="0" anchor="ctr"/>
          <a:lstStyle/>
          <a:p>
            <a:pPr marL="0" indent="0" algn="ctr">
              <a:buNone/>
            </a:pPr>
            <a:r>
              <a:rPr lang="en-US" sz="3400" dirty="0">
                <a:solidFill>
                  <a:srgbClr val="FFFFFF"/>
                </a:solidFill>
                <a:latin typeface="EB Garamond" pitchFamily="34" charset="0"/>
                <a:ea typeface="EB Garamond" pitchFamily="34" charset="-122"/>
                <a:cs typeface="EB Garamond" pitchFamily="34" charset="-120"/>
              </a:rPr>
              <a:t>Placements</a:t>
            </a:r>
            <a:endParaRPr lang="en-US" sz="3400" dirty="0"/>
          </a:p>
        </p:txBody>
      </p:sp>
      <p:pic>
        <p:nvPicPr>
          <p:cNvPr id="3" name="Image 0" descr="live/L-coatue.png"/>
          <p:cNvPicPr>
            <a:picLocks noChangeAspect="1"/>
          </p:cNvPicPr>
          <p:nvPr/>
        </p:nvPicPr>
        <p:blipFill>
          <a:blip r:embed="rId3"/>
          <a:stretch>
            <a:fillRect/>
          </a:stretch>
        </p:blipFill>
        <p:spPr>
          <a:xfrm>
            <a:off x="1437784" y="2287154"/>
            <a:ext cx="1955435" cy="363453"/>
          </a:xfrm>
          <a:prstGeom prst="rect">
            <a:avLst/>
          </a:prstGeom>
        </p:spPr>
      </p:pic>
      <p:pic>
        <p:nvPicPr>
          <p:cNvPr id="4" name="Image 1" descr="live/L-pwp.png"/>
          <p:cNvPicPr>
            <a:picLocks noChangeAspect="1"/>
          </p:cNvPicPr>
          <p:nvPr/>
        </p:nvPicPr>
        <p:blipFill>
          <a:blip r:embed="rId4"/>
          <a:stretch>
            <a:fillRect/>
          </a:stretch>
        </p:blipFill>
        <p:spPr>
          <a:xfrm>
            <a:off x="4162822" y="2217300"/>
            <a:ext cx="1412487" cy="503161"/>
          </a:xfrm>
          <a:prstGeom prst="rect">
            <a:avLst/>
          </a:prstGeom>
        </p:spPr>
      </p:pic>
      <p:pic>
        <p:nvPicPr>
          <p:cNvPr id="5" name="Image 2" descr="live/L-rbc.png"/>
          <p:cNvPicPr>
            <a:picLocks noChangeAspect="1"/>
          </p:cNvPicPr>
          <p:nvPr/>
        </p:nvPicPr>
        <p:blipFill>
          <a:blip r:embed="rId5"/>
          <a:stretch>
            <a:fillRect/>
          </a:stretch>
        </p:blipFill>
        <p:spPr>
          <a:xfrm>
            <a:off x="6694969" y="2185802"/>
            <a:ext cx="1255322" cy="566156"/>
          </a:xfrm>
          <a:prstGeom prst="rect">
            <a:avLst/>
          </a:prstGeom>
        </p:spPr>
      </p:pic>
      <p:pic>
        <p:nvPicPr>
          <p:cNvPr id="6" name="Image 3" descr="live/L-walleye.png"/>
          <p:cNvPicPr>
            <a:picLocks noChangeAspect="1"/>
          </p:cNvPicPr>
          <p:nvPr/>
        </p:nvPicPr>
        <p:blipFill>
          <a:blip r:embed="rId6"/>
          <a:stretch>
            <a:fillRect/>
          </a:stretch>
        </p:blipFill>
        <p:spPr>
          <a:xfrm>
            <a:off x="8952569" y="2253154"/>
            <a:ext cx="1647248" cy="431452"/>
          </a:xfrm>
          <a:prstGeom prst="rect">
            <a:avLst/>
          </a:prstGeom>
        </p:spPr>
      </p:pic>
      <p:pic>
        <p:nvPicPr>
          <p:cNvPr id="7" name="Image 4" descr="live/L-truebluepartners.png"/>
          <p:cNvPicPr>
            <a:picLocks noChangeAspect="1"/>
          </p:cNvPicPr>
          <p:nvPr/>
        </p:nvPicPr>
        <p:blipFill>
          <a:blip r:embed="rId7"/>
          <a:stretch>
            <a:fillRect/>
          </a:stretch>
        </p:blipFill>
        <p:spPr>
          <a:xfrm>
            <a:off x="1474707" y="3651622"/>
            <a:ext cx="1881590" cy="377717"/>
          </a:xfrm>
          <a:prstGeom prst="rect">
            <a:avLst/>
          </a:prstGeom>
        </p:spPr>
      </p:pic>
      <p:pic>
        <p:nvPicPr>
          <p:cNvPr id="8" name="Image 5" descr="live/L-hyperflex.png"/>
          <p:cNvPicPr>
            <a:picLocks noChangeAspect="1"/>
          </p:cNvPicPr>
          <p:nvPr/>
        </p:nvPicPr>
        <p:blipFill>
          <a:blip r:embed="rId8"/>
          <a:stretch>
            <a:fillRect/>
          </a:stretch>
        </p:blipFill>
        <p:spPr>
          <a:xfrm>
            <a:off x="3956318" y="3645818"/>
            <a:ext cx="1825495" cy="389324"/>
          </a:xfrm>
          <a:prstGeom prst="rect">
            <a:avLst/>
          </a:prstGeom>
        </p:spPr>
      </p:pic>
      <p:pic>
        <p:nvPicPr>
          <p:cNvPr id="9" name="Image 6" descr="live/L-yc.png"/>
          <p:cNvPicPr>
            <a:picLocks noChangeAspect="1"/>
          </p:cNvPicPr>
          <p:nvPr/>
        </p:nvPicPr>
        <p:blipFill>
          <a:blip r:embed="rId9"/>
          <a:stretch>
            <a:fillRect/>
          </a:stretch>
        </p:blipFill>
        <p:spPr>
          <a:xfrm>
            <a:off x="6395849" y="3648766"/>
            <a:ext cx="1853560" cy="383429"/>
          </a:xfrm>
          <a:prstGeom prst="rect">
            <a:avLst/>
          </a:prstGeom>
        </p:spPr>
      </p:pic>
      <p:pic>
        <p:nvPicPr>
          <p:cNvPr id="10" name="Image 7" descr="live/L-blackopalventures.png"/>
          <p:cNvPicPr>
            <a:picLocks noChangeAspect="1"/>
          </p:cNvPicPr>
          <p:nvPr/>
        </p:nvPicPr>
        <p:blipFill>
          <a:blip r:embed="rId10"/>
          <a:stretch>
            <a:fillRect/>
          </a:stretch>
        </p:blipFill>
        <p:spPr>
          <a:xfrm>
            <a:off x="9134802" y="3563462"/>
            <a:ext cx="1282783" cy="554036"/>
          </a:xfrm>
          <a:prstGeom prst="rect">
            <a:avLst/>
          </a:prstGeom>
        </p:spPr>
      </p:pic>
      <p:pic>
        <p:nvPicPr>
          <p:cNvPr id="11" name="Image 8" descr="live/L-shcm.png"/>
          <p:cNvPicPr>
            <a:picLocks noChangeAspect="1"/>
          </p:cNvPicPr>
          <p:nvPr/>
        </p:nvPicPr>
        <p:blipFill>
          <a:blip r:embed="rId11"/>
          <a:stretch>
            <a:fillRect/>
          </a:stretch>
        </p:blipFill>
        <p:spPr>
          <a:xfrm>
            <a:off x="1363942" y="5118944"/>
            <a:ext cx="2103120" cy="186272"/>
          </a:xfrm>
          <a:prstGeom prst="rect">
            <a:avLst/>
          </a:prstGeom>
        </p:spPr>
      </p:pic>
      <p:pic>
        <p:nvPicPr>
          <p:cNvPr id="12" name="Image 9" descr="live/L-arcadiainvestmentpartners.png"/>
          <p:cNvPicPr>
            <a:picLocks noChangeAspect="1"/>
          </p:cNvPicPr>
          <p:nvPr/>
        </p:nvPicPr>
        <p:blipFill>
          <a:blip r:embed="rId12"/>
          <a:stretch>
            <a:fillRect/>
          </a:stretch>
        </p:blipFill>
        <p:spPr>
          <a:xfrm>
            <a:off x="4057312" y="4993199"/>
            <a:ext cx="1623507" cy="437761"/>
          </a:xfrm>
          <a:prstGeom prst="rect">
            <a:avLst/>
          </a:prstGeom>
        </p:spPr>
      </p:pic>
      <p:pic>
        <p:nvPicPr>
          <p:cNvPr id="13" name="Image 10" descr="live/L-secondsummit.png"/>
          <p:cNvPicPr>
            <a:picLocks noChangeAspect="1"/>
          </p:cNvPicPr>
          <p:nvPr/>
        </p:nvPicPr>
        <p:blipFill>
          <a:blip r:embed="rId13"/>
          <a:stretch>
            <a:fillRect/>
          </a:stretch>
        </p:blipFill>
        <p:spPr>
          <a:xfrm>
            <a:off x="6884293" y="4806736"/>
            <a:ext cx="876674" cy="810687"/>
          </a:xfrm>
          <a:prstGeom prst="rect">
            <a:avLst/>
          </a:prstGeom>
        </p:spPr>
      </p:pic>
      <p:pic>
        <p:nvPicPr>
          <p:cNvPr id="14" name="Image 11" descr="live/L-scholdings.png"/>
          <p:cNvPicPr>
            <a:picLocks noChangeAspect="1"/>
          </p:cNvPicPr>
          <p:nvPr/>
        </p:nvPicPr>
        <p:blipFill>
          <a:blip r:embed="rId14"/>
          <a:stretch>
            <a:fillRect/>
          </a:stretch>
        </p:blipFill>
        <p:spPr>
          <a:xfrm>
            <a:off x="9364713" y="4800600"/>
            <a:ext cx="822960" cy="822960"/>
          </a:xfrm>
          <a:prstGeom prst="rect">
            <a:avLst/>
          </a:prstGeom>
        </p:spPr>
      </p:pic>
      <p:sp>
        <p:nvSpPr>
          <p:cNvPr id="25" name="Slide Number Placeholder 0"/>
          <p:cNvSpPr>
            <a:spLocks noGrp="1"/>
          </p:cNvSpPr>
          <p:nvPr>
            <p:ph type="sldNum" sz="quarter" idx="4294967295"/>
          </p:nvPr>
        </p:nvSpPr>
        <p:spPr>
          <a:xfrm>
            <a:off x="10911535" y="632764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3A2A2A"/>
                </a:solidFill>
                <a:latin typeface="EB Garamond"/>
                <a:ea typeface="EB Garamond"/>
                <a:cs typeface="EB Garamon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live/logo-lockup-white.png"/>
          <p:cNvPicPr>
            <a:picLocks noChangeAspect="1"/>
          </p:cNvPicPr>
          <p:nvPr/>
        </p:nvPicPr>
        <p:blipFill>
          <a:blip r:embed="rId4"/>
          <a:stretch>
            <a:fillRect/>
          </a:stretch>
        </p:blipFill>
        <p:spPr>
          <a:xfrm>
            <a:off x="731520" y="548640"/>
            <a:ext cx="3547872" cy="594360"/>
          </a:xfrm>
          <a:prstGeom prst="rect">
            <a:avLst/>
          </a:prstGeom>
        </p:spPr>
      </p:pic>
      <p:sp>
        <p:nvSpPr>
          <p:cNvPr id="3" name="Text 0"/>
          <p:cNvSpPr txBox="1"/>
          <p:nvPr/>
        </p:nvSpPr>
        <p:spPr>
          <a:xfrm>
            <a:off x="731520" y="2194560"/>
            <a:ext cx="6858000" cy="914400"/>
          </a:xfrm>
          <a:prstGeom prst="rect">
            <a:avLst/>
          </a:prstGeom>
          <a:noFill/>
          <a:ln/>
        </p:spPr>
        <p:txBody>
          <a:bodyPr wrap="square" lIns="0" tIns="0" rIns="0" bIns="0" rtlCol="0" anchor="ctr"/>
          <a:lstStyle/>
          <a:p>
            <a:pPr marL="0" indent="0">
              <a:buNone/>
            </a:pPr>
            <a:r>
              <a:rPr lang="en-US" sz="6000" dirty="0">
                <a:solidFill>
                  <a:srgbClr val="FFFFFF"/>
                </a:solidFill>
                <a:latin typeface="EB Garamond" pitchFamily="34" charset="0"/>
                <a:ea typeface="EB Garamond" pitchFamily="34" charset="-122"/>
                <a:cs typeface="EB Garamond" pitchFamily="34" charset="-120"/>
              </a:rPr>
              <a:t>Thank you</a:t>
            </a:r>
            <a:endParaRPr lang="en-US" sz="6000" dirty="0"/>
          </a:p>
        </p:txBody>
      </p:sp>
      <p:sp>
        <p:nvSpPr>
          <p:cNvPr id="4" name="Text 1"/>
          <p:cNvSpPr txBox="1"/>
          <p:nvPr/>
        </p:nvSpPr>
        <p:spPr>
          <a:xfrm>
            <a:off x="731520" y="3154680"/>
            <a:ext cx="6858000" cy="457200"/>
          </a:xfrm>
          <a:prstGeom prst="rect">
            <a:avLst/>
          </a:prstGeom>
          <a:noFill/>
          <a:ln/>
        </p:spPr>
        <p:txBody>
          <a:bodyPr wrap="square" lIns="0" tIns="0" rIns="0" bIns="0" rtlCol="0" anchor="ctr"/>
          <a:lstStyle/>
          <a:p>
            <a:pPr marL="0" indent="0">
              <a:buNone/>
            </a:pPr>
            <a:r>
              <a:rPr lang="en-US" sz="2600" dirty="0">
                <a:solidFill>
                  <a:srgbClr val="FFFFFF"/>
                </a:solidFill>
                <a:latin typeface="EB Garamond" pitchFamily="34" charset="0"/>
                <a:ea typeface="EB Garamond" pitchFamily="34" charset="-122"/>
                <a:cs typeface="EB Garamond" pitchFamily="34" charset="-120"/>
              </a:rPr>
              <a:t>Any questions?</a:t>
            </a:r>
            <a:endParaRPr lang="en-US" sz="2600" dirty="0"/>
          </a:p>
        </p:txBody>
      </p:sp>
      <p:sp>
        <p:nvSpPr>
          <p:cNvPr id="5" name="Text 2"/>
          <p:cNvSpPr txBox="1"/>
          <p:nvPr/>
        </p:nvSpPr>
        <p:spPr>
          <a:xfrm>
            <a:off x="731520" y="3931920"/>
            <a:ext cx="7315200" cy="685800"/>
          </a:xfrm>
          <a:prstGeom prst="rect">
            <a:avLst/>
          </a:prstGeom>
          <a:noFill/>
          <a:ln/>
        </p:spPr>
        <p:txBody>
          <a:bodyPr wrap="square" lIns="0" tIns="0" rIns="0" bIns="0" rtlCol="0" anchor="t"/>
          <a:lstStyle/>
          <a:p>
            <a:pPr marL="0" indent="0">
              <a:spcAft>
                <a:spcPts val="400"/>
              </a:spcAft>
              <a:buNone/>
            </a:pPr>
            <a:r>
              <a:rPr lang="en-US" sz="1500" dirty="0">
                <a:solidFill>
                  <a:srgbClr val="FFFFFF"/>
                </a:solidFill>
                <a:latin typeface="EB Garamond" pitchFamily="34" charset="0"/>
                <a:ea typeface="EB Garamond" pitchFamily="34" charset="-122"/>
                <a:cs typeface="EB Garamond" pitchFamily="34" charset="-120"/>
              </a:rPr>
              <a:t>Applications close Friday, October 9 at 11:59 PM CT.</a:t>
            </a:r>
            <a:endParaRPr lang="en-US" sz="1500" dirty="0"/>
          </a:p>
        </p:txBody>
      </p:sp>
      <p:sp>
        <p:nvSpPr>
          <p:cNvPr id="6" name="Shape 3"/>
          <p:cNvSpPr/>
          <p:nvPr/>
        </p:nvSpPr>
        <p:spPr>
          <a:xfrm>
            <a:off x="8549640" y="1737360"/>
            <a:ext cx="2926080" cy="3337560"/>
          </a:xfrm>
          <a:prstGeom prst="rect">
            <a:avLst/>
          </a:prstGeom>
          <a:solidFill>
            <a:srgbClr val="FFFFFF"/>
          </a:solidFill>
          <a:ln w="12700">
            <a:solidFill>
              <a:srgbClr val="FFFFFF"/>
            </a:solidFill>
            <a:prstDash val="solid"/>
          </a:ln>
        </p:spPr>
        <p:txBody>
          <a:bodyPr/>
          <a:lstStyle/>
          <a:p>
            <a:endParaRPr lang="en-US"/>
          </a:p>
        </p:txBody>
      </p:sp>
      <p:pic>
        <p:nvPicPr>
          <p:cNvPr id="7" name="Image 1" descr="img/qr.png">
            <a:hlinkClick r:id="rId5"/>
          </p:cNvPr>
          <p:cNvPicPr>
            <a:picLocks noChangeAspect="1"/>
          </p:cNvPicPr>
          <p:nvPr/>
        </p:nvPicPr>
        <p:blipFill>
          <a:blip r:embed="rId6"/>
          <a:stretch>
            <a:fillRect/>
          </a:stretch>
        </p:blipFill>
        <p:spPr>
          <a:xfrm>
            <a:off x="8778240" y="1965960"/>
            <a:ext cx="2468880" cy="2468880"/>
          </a:xfrm>
          <a:prstGeom prst="rect">
            <a:avLst/>
          </a:prstGeom>
        </p:spPr>
      </p:pic>
      <p:sp>
        <p:nvSpPr>
          <p:cNvPr id="8" name="Text 4"/>
          <p:cNvSpPr txBox="1"/>
          <p:nvPr/>
        </p:nvSpPr>
        <p:spPr>
          <a:xfrm>
            <a:off x="8549640" y="4526280"/>
            <a:ext cx="2926080" cy="365760"/>
          </a:xfrm>
          <a:prstGeom prst="rect">
            <a:avLst/>
          </a:prstGeom>
          <a:noFill/>
          <a:ln/>
        </p:spPr>
        <p:txBody>
          <a:bodyPr wrap="square" lIns="0" tIns="0" rIns="0" bIns="0" rtlCol="0" anchor="ctr"/>
          <a:lstStyle/>
          <a:p>
            <a:pPr marL="0" indent="0" algn="ctr">
              <a:buNone/>
            </a:pPr>
            <a:r>
              <a:rPr lang="en-US" sz="1600" dirty="0">
                <a:solidFill>
                  <a:srgbClr val="77080E"/>
                </a:solidFill>
                <a:latin typeface="EB Garamond" pitchFamily="34" charset="0"/>
                <a:ea typeface="EB Garamond" pitchFamily="34" charset="-122"/>
                <a:cs typeface="EB Garamond" pitchFamily="34" charset="-120"/>
              </a:rPr>
              <a:t>Scan to apply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B Garamon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739</Words>
  <Application>Microsoft Macintosh PowerPoint</Application>
  <PresentationFormat>Widescreen</PresentationFormat>
  <Paragraphs>117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EB 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UChicago Activist Investing: Fall 2026 Info Session</dc:title>
  <dc:subject>PptxGenJS Presentation</dc:subject>
  <dc:creator>UChicago Activist Investing Club</dc:creator>
  <cp:lastModifiedBy>Tanish Arora</cp:lastModifiedBy>
  <cp:revision>2</cp:revision>
  <dcterms:created xsi:type="dcterms:W3CDTF">2026-10-04T01:01:16Z</dcterms:created>
  <dcterms:modified xsi:type="dcterms:W3CDTF">2026-10-04T01:57:51Z</dcterms:modified>
</cp:coreProperties>
</file>